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</p:sldIdLst>
  <p:sldSz cx="21396325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>
  <p:showPr showNarration="1">
    <p:present/>
    <p:sldAll/>
    <p:penClr>
      <a:prstClr val="red"/>
    </p:penClr>
    <p:extLst>
      <p:ext uri="{EC167BDD-8182-4AB7-AECC-EB403E3ABB37}"/>
      <p:ext uri="{2FDB2607-1784-4EEB-B798-7EB5836EED8A}"/>
    </p:extLst>
  </p:showPr>
  <p:clrMru>
    <a:srgbClr val="10263B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42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953466"/>
            <a:ext cx="18186876" cy="10537496"/>
          </a:xfrm>
        </p:spPr>
        <p:txBody>
          <a:bodyPr anchor="b"/>
          <a:lstStyle>
            <a:lvl1pPr algn="ctr">
              <a:defRPr sz="14039"/>
            </a:lvl1pPr>
          </a:lstStyle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>
            <a:pPr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459855" y="7545809"/>
            <a:ext cx="18454330" cy="12590343"/>
          </a:xfrm>
        </p:spPr>
        <p:txBody>
          <a:bodyPr anchor="b"/>
          <a:lstStyle>
            <a:lvl1pPr>
              <a:defRPr sz="14039"/>
            </a:lvl1pPr>
          </a:lstStyle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1459855" y="20255262"/>
            <a:ext cx="18454330" cy="6620964"/>
          </a:xfrm>
        </p:spPr>
        <p:txBody>
          <a:bodyPr/>
          <a:lstStyle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1473784" y="1611459"/>
            <a:ext cx="18454330" cy="5850274"/>
          </a:xfrm>
        </p:spPr>
        <p:txBody>
          <a:bodyPr/>
          <a:lstStyle/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1473787" y="7419688"/>
            <a:ext cx="9051647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1473787" y="11055963"/>
            <a:ext cx="9051647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31891" y="7419688"/>
            <a:ext cx="9096225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10831891" y="11055963"/>
            <a:ext cx="9096225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9096225" y="4357934"/>
            <a:ext cx="10831890" cy="21509383"/>
          </a:xfrm>
        </p:spPr>
        <p:txBody>
          <a:bodyPr/>
          <a:lstStyle>
            <a:lvl1pPr>
              <a:defRPr sz="7488"/>
            </a:lvl1pPr>
            <a:lvl2pPr>
              <a:defRPr sz="6552"/>
            </a:lvl2pPr>
            <a:lvl3pPr>
              <a:defRPr sz="5616"/>
            </a:lvl3pPr>
            <a:lvl4pPr>
              <a:defRPr sz="4680"/>
            </a:lvl4pPr>
            <a:lvl5pPr>
              <a:defRPr sz="4680"/>
            </a:lvl5pPr>
            <a:lvl6pPr>
              <a:defRPr sz="4680"/>
            </a:lvl6pPr>
            <a:lvl7pPr>
              <a:defRPr sz="4680"/>
            </a:lvl7pPr>
            <a:lvl8pPr>
              <a:defRPr sz="4680"/>
            </a:lvl8pPr>
            <a:lvl9pPr>
              <a:defRPr sz="4680"/>
            </a:lvl9pPr>
          </a:lstStyle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6225" y="4357934"/>
            <a:ext cx="10831890" cy="21509383"/>
          </a:xfrm>
        </p:spPr>
        <p:txBody>
          <a:bodyPr anchor="t"/>
          <a:lstStyle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>
            <a:pPr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15311746" y="1611452"/>
            <a:ext cx="4613583" cy="25650117"/>
          </a:xfrm>
        </p:spPr>
        <p:txBody>
          <a:bodyPr vert="eaVert"/>
          <a:lstStyle/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998" y="1611452"/>
            <a:ext cx="13573294" cy="25650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5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998" y="1611459"/>
            <a:ext cx="184543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997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7533" y="28053287"/>
            <a:ext cx="7221260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11155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2139605" rtl="0" eaLnBrk="1" latinLnBrk="0" hangingPunct="1">
        <a:lnSpc>
          <a:spcPct val="90000"/>
        </a:lnSpc>
        <a:spcBef>
          <a:spcPct val="1"/>
        </a:spcBef>
        <a:buNone/>
        <a:defRPr sz="102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901" indent="-534901" algn="l" defTabSz="213960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sz="6552" kern="1200">
          <a:solidFill>
            <a:schemeClr val="tx1"/>
          </a:solidFill>
          <a:latin typeface="+mn-lt"/>
          <a:ea typeface="+mn-ea"/>
          <a:cs typeface="+mn-cs"/>
        </a:defRPr>
      </a:lvl1pPr>
      <a:lvl2pPr marL="160470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674506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80" kern="1200">
          <a:solidFill>
            <a:schemeClr val="tx1"/>
          </a:solidFill>
          <a:latin typeface="+mn-lt"/>
          <a:ea typeface="+mn-ea"/>
          <a:cs typeface="+mn-cs"/>
        </a:defRPr>
      </a:lvl3pPr>
      <a:lvl4pPr marL="3744308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814110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88391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953715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8023517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9093319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1pPr>
      <a:lvl2pPr marL="1069802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2pPr>
      <a:lvl3pPr marL="2139605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3pPr>
      <a:lvl4pPr marL="3209407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279209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349011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418814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7488616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8558418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3.png" /><Relationship Id="rId1" Type="http://schemas.openxmlformats.org/officeDocument/2006/relationships/image" Target="media/image1.png" /><Relationship Id="rId5" Type="http://schemas.openxmlformats.org/officeDocument/2006/relationships/image" Target="media/image5.png" /><Relationship Id="rId4" Type="http://schemas.openxmlformats.org/officeDocument/2006/relationships/image" Target="media/image4.png" /><Relationship Id="rId2" Type="http://schemas.openxmlformats.org/officeDocument/2006/relationships/image" Target="media/image2.png" /><Relationship Id="rId6" Type="http://schemas.openxmlformats.org/officeDocument/2006/relationships/image" Target="media/image6.png" /><Relationship Id="rId7" Type="http://schemas.openxmlformats.org/officeDocument/2006/relationships/image" Target="media/image7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-1" y="-280988"/>
            <a:ext cx="21396325" cy="1792288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 cstate="hqprint">
            <a:extLst>
              <a:ext uri="{28A0092B-C50C-407E-A947-70E740481C1C}"/>
            </a:extLst>
          </a:blip>
          <a:stretch>
            <a:fillRect/>
          </a:stretch>
        </p:blipFill>
        <p:spPr bwMode="auto">
          <a:xfrm>
            <a:off x="266700" y="5555"/>
            <a:ext cx="3308880" cy="122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</p:pic>
      <p:sp>
        <p:nvSpPr>
          <p:cNvPr id="4" name="Rectangle 5"/>
          <p:cNvSpPr/>
          <p:nvPr/>
        </p:nvSpPr>
        <p:spPr>
          <a:xfrm>
            <a:off x="0" y="29313168"/>
            <a:ext cx="21396325" cy="965886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1938000" y="252527"/>
            <a:ext cx="8890000" cy="72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tabLst/>
            </a:pPr>
            <a:r>
              <a:rPr kumimoji="0" lang="zh-CN" altLang="zh-CN" sz="4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10600030101010101" pitchFamily="2" charset="-122"/>
              </a:rPr>
              <a:t>Department of Mathematical Sciences</a:t>
            </a:r>
            <a:endParaRPr kumimoji="0" lang="zh-CN" altLang="zh-CN" sz="40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10600030101010101" pitchFamily="2" charset="-122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5613400" y="29464000"/>
            <a:ext cx="10160000" cy="660400"/>
          </a:xfrm>
          <a:prstGeom prst="rect">
            <a:avLst/>
          </a:prstGeom>
          <a:noFill/>
          <a:ln w="0"/>
        </p:spPr>
        <p:txBody>
          <a:bodyPr wrap="square" rtlCol="0">
            <a:spAutoFit/>
          </a:bodyPr>
          <a:lstStyle/>
          <a:p>
            <a:pPr algn="r"/>
            <a:r>
              <a:rPr lang="zh-CN" altLang="zh-CN" sz="2800" b="1">
                <a:solidFill>
                  <a:srgbClr val="FFFFFF"/>
                </a:solidFill>
                <a:latin typeface="Calibri" panose="020F0502020204030204" pitchFamily="34" charset="0"/>
                <a:ea typeface="Calibri" panose="02010600030101010101" pitchFamily="2" charset="-122"/>
              </a:rPr>
              <a:t> </a:t>
            </a:r>
            <a:endParaRPr lang="zh-CN" altLang="zh-CN" sz="2800" b="1">
              <a:solidFill>
                <a:srgbClr val="FFFFFF"/>
              </a:solidFill>
              <a:latin typeface="Calibri" panose="020F0502020204030204" pitchFamily="34" charset="0"/>
              <a:ea typeface="Calibri" panose="02010600030101010101" pitchFamily="2" charset="-122"/>
            </a:endParaRPr>
          </a:p>
        </p:txBody>
      </p:sp>
      <p:sp>
        <p:nvSpPr>
          <p:cNvPr id="7" name=""/>
          <p:cNvSpPr/>
          <p:nvPr/>
        </p:nvSpPr>
        <p:spPr>
          <a:xfrm>
            <a:off x="698500" y="7124700"/>
            <a:ext cx="7239000" cy="6108700"/>
          </a:xfrm>
          <a:prstGeom prst="roundRect">
            <a:avLst>
              <a:gd name="adj" fmla="val 2495"/>
            </a:avLst>
          </a:prstGeom>
          <a:solidFill>
            <a:srgbClr val="F2F6FA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8" name=""/>
          <p:cNvSpPr/>
          <p:nvPr/>
        </p:nvSpPr>
        <p:spPr>
          <a:xfrm>
            <a:off x="8089900" y="7124700"/>
            <a:ext cx="5334000" cy="6108700"/>
          </a:xfrm>
          <a:prstGeom prst="roundRect">
            <a:avLst>
              <a:gd name="adj" fmla="val 2857"/>
            </a:avLst>
          </a:prstGeom>
          <a:solidFill>
            <a:srgbClr val="F2F6FA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9" name=""/>
          <p:cNvSpPr/>
          <p:nvPr/>
        </p:nvSpPr>
        <p:spPr>
          <a:xfrm>
            <a:off x="13576300" y="7124700"/>
            <a:ext cx="7086600" cy="6108700"/>
          </a:xfrm>
          <a:prstGeom prst="roundRect">
            <a:avLst>
              <a:gd name="adj" fmla="val 2495"/>
            </a:avLst>
          </a:prstGeom>
          <a:solidFill>
            <a:srgbClr val="F2F6FA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0" name=""/>
          <p:cNvSpPr/>
          <p:nvPr/>
        </p:nvSpPr>
        <p:spPr>
          <a:xfrm>
            <a:off x="698500" y="13411200"/>
            <a:ext cx="10033000" cy="5664200"/>
          </a:xfrm>
          <a:prstGeom prst="roundRect">
            <a:avLst>
              <a:gd name="adj" fmla="val 2691"/>
            </a:avLst>
          </a:prstGeom>
          <a:solidFill>
            <a:srgbClr val="F2F6FA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1" name=""/>
          <p:cNvSpPr/>
          <p:nvPr/>
        </p:nvSpPr>
        <p:spPr>
          <a:xfrm>
            <a:off x="10883900" y="13411200"/>
            <a:ext cx="9779000" cy="5664200"/>
          </a:xfrm>
          <a:prstGeom prst="roundRect">
            <a:avLst>
              <a:gd name="adj" fmla="val 2691"/>
            </a:avLst>
          </a:prstGeom>
          <a:solidFill>
            <a:srgbClr val="F2F6FA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2" name=""/>
          <p:cNvSpPr/>
          <p:nvPr/>
        </p:nvSpPr>
        <p:spPr>
          <a:xfrm>
            <a:off x="698500" y="19253200"/>
            <a:ext cx="10033000" cy="6045200"/>
          </a:xfrm>
          <a:prstGeom prst="roundRect">
            <a:avLst>
              <a:gd name="adj" fmla="val 2521"/>
            </a:avLst>
          </a:prstGeom>
          <a:solidFill>
            <a:srgbClr val="F2F6FA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3" name=""/>
          <p:cNvSpPr/>
          <p:nvPr/>
        </p:nvSpPr>
        <p:spPr>
          <a:xfrm>
            <a:off x="10883900" y="19253200"/>
            <a:ext cx="9779000" cy="3683000"/>
          </a:xfrm>
          <a:prstGeom prst="roundRect">
            <a:avLst>
              <a:gd name="adj" fmla="val 4138"/>
            </a:avLst>
          </a:prstGeom>
          <a:solidFill>
            <a:srgbClr val="F2F6FA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4" name=""/>
          <p:cNvSpPr/>
          <p:nvPr/>
        </p:nvSpPr>
        <p:spPr>
          <a:xfrm>
            <a:off x="698500" y="25476200"/>
            <a:ext cx="19964400" cy="3657600"/>
          </a:xfrm>
          <a:prstGeom prst="roundRect">
            <a:avLst>
              <a:gd name="adj" fmla="val 4167"/>
            </a:avLst>
          </a:prstGeom>
          <a:solidFill>
            <a:srgbClr val="F2F6FA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5" name=""/>
          <p:cNvSpPr/>
          <p:nvPr/>
        </p:nvSpPr>
        <p:spPr>
          <a:xfrm>
            <a:off x="698500" y="7124700"/>
            <a:ext cx="7239000" cy="584200"/>
          </a:xfrm>
          <a:prstGeom prst="round2SameRect">
            <a:avLst>
              <a:gd name="adj1" fmla="val 26087"/>
              <a:gd name="adj2" fmla="val 0"/>
            </a:avLst>
          </a:prstGeom>
          <a:solidFill>
            <a:srgbClr val="10263B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6" name=""/>
          <p:cNvSpPr/>
          <p:nvPr/>
        </p:nvSpPr>
        <p:spPr>
          <a:xfrm>
            <a:off x="8089900" y="7124700"/>
            <a:ext cx="5334000" cy="584200"/>
          </a:xfrm>
          <a:prstGeom prst="round2SameRect">
            <a:avLst>
              <a:gd name="adj1" fmla="val 26087"/>
              <a:gd name="adj2" fmla="val 0"/>
            </a:avLst>
          </a:prstGeom>
          <a:solidFill>
            <a:srgbClr val="0E7C86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7" name=""/>
          <p:cNvSpPr/>
          <p:nvPr/>
        </p:nvSpPr>
        <p:spPr>
          <a:xfrm>
            <a:off x="13576300" y="7124700"/>
            <a:ext cx="7086600" cy="584200"/>
          </a:xfrm>
          <a:prstGeom prst="round2SameRect">
            <a:avLst>
              <a:gd name="adj1" fmla="val 26087"/>
              <a:gd name="adj2" fmla="val 0"/>
            </a:avLst>
          </a:prstGeom>
          <a:solidFill>
            <a:srgbClr val="1F6FB2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8" name=""/>
          <p:cNvSpPr/>
          <p:nvPr/>
        </p:nvSpPr>
        <p:spPr>
          <a:xfrm>
            <a:off x="698500" y="13411200"/>
            <a:ext cx="10033000" cy="584200"/>
          </a:xfrm>
          <a:prstGeom prst="round2SameRect">
            <a:avLst>
              <a:gd name="adj1" fmla="val 26087"/>
              <a:gd name="adj2" fmla="val 0"/>
            </a:avLst>
          </a:prstGeom>
          <a:solidFill>
            <a:srgbClr val="2E8B57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>
            <a:off x="10883900" y="13411200"/>
            <a:ext cx="9779000" cy="584200"/>
          </a:xfrm>
          <a:prstGeom prst="round2SameRect">
            <a:avLst>
              <a:gd name="adj1" fmla="val 26087"/>
              <a:gd name="adj2" fmla="val 0"/>
            </a:avLst>
          </a:prstGeom>
          <a:solidFill>
            <a:srgbClr val="1F6FB2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0" name=""/>
          <p:cNvSpPr/>
          <p:nvPr/>
        </p:nvSpPr>
        <p:spPr>
          <a:xfrm>
            <a:off x="698500" y="19253200"/>
            <a:ext cx="10033000" cy="584200"/>
          </a:xfrm>
          <a:prstGeom prst="round2SameRect">
            <a:avLst>
              <a:gd name="adj1" fmla="val 26087"/>
              <a:gd name="adj2" fmla="val 0"/>
            </a:avLst>
          </a:prstGeom>
          <a:solidFill>
            <a:srgbClr val="0E7C86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1" name=""/>
          <p:cNvSpPr/>
          <p:nvPr/>
        </p:nvSpPr>
        <p:spPr>
          <a:xfrm>
            <a:off x="10883900" y="19253200"/>
            <a:ext cx="9779000" cy="584200"/>
          </a:xfrm>
          <a:prstGeom prst="round2SameRect">
            <a:avLst>
              <a:gd name="adj1" fmla="val 26087"/>
              <a:gd name="adj2" fmla="val 0"/>
            </a:avLst>
          </a:prstGeom>
          <a:solidFill>
            <a:srgbClr val="E8A33D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2" name=""/>
          <p:cNvSpPr/>
          <p:nvPr/>
        </p:nvSpPr>
        <p:spPr>
          <a:xfrm>
            <a:off x="698500" y="25476200"/>
            <a:ext cx="19964400" cy="584200"/>
          </a:xfrm>
          <a:prstGeom prst="round2SameRect">
            <a:avLst>
              <a:gd name="adj1" fmla="val 26087"/>
              <a:gd name="adj2" fmla="val 0"/>
            </a:avLst>
          </a:prstGeom>
          <a:solidFill>
            <a:srgbClr val="10263B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3" name=""/>
          <p:cNvSpPr/>
          <p:nvPr/>
        </p:nvSpPr>
        <p:spPr>
          <a:xfrm>
            <a:off x="698500" y="4089400"/>
            <a:ext cx="4876800" cy="2857500"/>
          </a:xfrm>
          <a:prstGeom prst="roundRect">
            <a:avLst>
              <a:gd name="adj" fmla="val 5333"/>
            </a:avLst>
          </a:prstGeom>
          <a:solidFill>
            <a:srgbClr val="E8A33D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>
            <a:off x="5727700" y="4089400"/>
            <a:ext cx="4876800" cy="2857500"/>
          </a:xfrm>
          <a:prstGeom prst="roundRect">
            <a:avLst>
              <a:gd name="adj" fmla="val 5333"/>
            </a:avLst>
          </a:prstGeom>
          <a:solidFill>
            <a:srgbClr val="10263B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>
            <a:off x="10756900" y="4089400"/>
            <a:ext cx="4876800" cy="2857500"/>
          </a:xfrm>
          <a:prstGeom prst="roundRect">
            <a:avLst>
              <a:gd name="adj" fmla="val 5333"/>
            </a:avLst>
          </a:prstGeom>
          <a:solidFill>
            <a:srgbClr val="10263B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6" name=""/>
          <p:cNvSpPr/>
          <p:nvPr/>
        </p:nvSpPr>
        <p:spPr>
          <a:xfrm>
            <a:off x="15786100" y="4089400"/>
            <a:ext cx="4876800" cy="2857500"/>
          </a:xfrm>
          <a:prstGeom prst="roundRect">
            <a:avLst>
              <a:gd name="adj" fmla="val 5333"/>
            </a:avLst>
          </a:prstGeom>
          <a:solidFill>
            <a:srgbClr val="10263B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7" name=""/>
          <p:cNvSpPr/>
          <p:nvPr/>
        </p:nvSpPr>
        <p:spPr>
          <a:xfrm>
            <a:off x="11137900" y="21920200"/>
            <a:ext cx="9169400" cy="736600"/>
          </a:xfrm>
          <a:prstGeom prst="roundRect">
            <a:avLst>
              <a:gd name="adj" fmla="val 20690"/>
            </a:avLst>
          </a:prstGeom>
          <a:solidFill>
            <a:srgbClr val="FBF3E4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8" name=""/>
          <p:cNvSpPr/>
          <p:nvPr/>
        </p:nvSpPr>
        <p:spPr>
          <a:xfrm>
            <a:off x="11137900" y="22072600"/>
            <a:ext cx="101600" cy="431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9" name=""/>
          <p:cNvSpPr/>
          <p:nvPr/>
        </p:nvSpPr>
        <p:spPr>
          <a:xfrm>
            <a:off x="952500" y="-5080000"/>
            <a:ext cx="177800" cy="177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>
            <a:off x="952500" y="-5080000"/>
            <a:ext cx="177800" cy="177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>
            <a:off x="952500" y="-5080000"/>
            <a:ext cx="177800" cy="177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2" name=""/>
          <p:cNvSpPr/>
          <p:nvPr/>
        </p:nvSpPr>
        <p:spPr>
          <a:xfrm>
            <a:off x="952500" y="-5080000"/>
            <a:ext cx="177800" cy="177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3" name=""/>
          <p:cNvSpPr/>
          <p:nvPr/>
        </p:nvSpPr>
        <p:spPr>
          <a:xfrm>
            <a:off x="11239500" y="-5080000"/>
            <a:ext cx="177800" cy="177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4" name=""/>
          <p:cNvSpPr/>
          <p:nvPr/>
        </p:nvSpPr>
        <p:spPr>
          <a:xfrm>
            <a:off x="11239500" y="-5080000"/>
            <a:ext cx="177800" cy="177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5" name=""/>
          <p:cNvSpPr/>
          <p:nvPr/>
        </p:nvSpPr>
        <p:spPr>
          <a:xfrm>
            <a:off x="11239500" y="-5080000"/>
            <a:ext cx="177800" cy="177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6" name=""/>
          <p:cNvSpPr/>
          <p:nvPr/>
        </p:nvSpPr>
        <p:spPr>
          <a:xfrm>
            <a:off x="952500" y="-5080000"/>
            <a:ext cx="177800" cy="177800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>
            <a:off x="7556500" y="-5080000"/>
            <a:ext cx="177800" cy="177800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8" name=""/>
          <p:cNvSpPr/>
          <p:nvPr/>
        </p:nvSpPr>
        <p:spPr>
          <a:xfrm>
            <a:off x="14160500" y="-5080000"/>
            <a:ext cx="177800" cy="177800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39" name=""/>
          <p:cNvSpPr/>
          <p:nvPr/>
        </p:nvSpPr>
        <p:spPr>
          <a:xfrm>
            <a:off x="952500" y="-5080000"/>
            <a:ext cx="177800" cy="177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40" name=""/>
          <p:cNvSpPr/>
          <p:nvPr/>
        </p:nvSpPr>
        <p:spPr>
          <a:xfrm>
            <a:off x="952500" y="-5080000"/>
            <a:ext cx="177800" cy="177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41" name=""/>
          <p:cNvSpPr/>
          <p:nvPr/>
        </p:nvSpPr>
        <p:spPr>
          <a:xfrm>
            <a:off x="10883900" y="23253700"/>
            <a:ext cx="9779000" cy="2044700"/>
          </a:xfrm>
          <a:prstGeom prst="roundRect">
            <a:avLst>
              <a:gd name="adj" fmla="val 7453"/>
            </a:avLst>
          </a:prstGeom>
          <a:solidFill>
            <a:srgbClr val="F2F6FA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42" name=""/>
          <p:cNvSpPr/>
          <p:nvPr/>
        </p:nvSpPr>
        <p:spPr>
          <a:xfrm>
            <a:off x="10883900" y="23253700"/>
            <a:ext cx="9779000" cy="457200"/>
          </a:xfrm>
          <a:prstGeom prst="round2SameRect">
            <a:avLst>
              <a:gd name="adj1" fmla="val 33333"/>
              <a:gd name="adj2" fmla="val 0"/>
            </a:avLst>
          </a:prstGeom>
          <a:solidFill>
            <a:srgbClr val="10263B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43" name=""/>
          <p:cNvSpPr/>
          <p:nvPr/>
        </p:nvSpPr>
        <p:spPr>
          <a:xfrm>
            <a:off x="698500" y="1701800"/>
            <a:ext cx="20002500" cy="167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4400" b="1">
                <a:solidFill>
                  <a:srgbClr val="10263B"/>
                </a:solidFill>
                <a:latin typeface="Calibri"/>
                <a:ea typeface="Calibri"/>
              </a:rPr>
              <a:t>12.6% Fewer Vehicles, Zero Regressions:
An Audit-First ALNS for Electric-Vehicle Routing</a:t>
            </a:r>
            <a:endParaRPr lang="zh-CN" sz="4400" b="1">
              <a:solidFill>
                <a:srgbClr val="10263B"/>
              </a:solidFill>
              <a:latin typeface="Calibri"/>
              <a:ea typeface="Calibri"/>
            </a:endParaRPr>
          </a:p>
        </p:txBody>
      </p:sp>
      <p:sp>
        <p:nvSpPr>
          <p:cNvPr id="44" name=""/>
          <p:cNvSpPr/>
          <p:nvPr/>
        </p:nvSpPr>
        <p:spPr>
          <a:xfrm>
            <a:off x="698500" y="3276600"/>
            <a:ext cx="13716000" cy="863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 i="1">
                <a:solidFill>
                  <a:srgbClr val="5B7A99"/>
                </a:solidFill>
                <a:latin typeface="Calibri"/>
                <a:ea typeface="Calibri"/>
              </a:rPr>
              <a:t>Reproducing &amp; extending Schneider, Stenger &amp; Goeke (2014) E-VRPTW — constraint-guided ALNS,
exact charging subproblems, and stage-gate audits with independent evidence replay</a:t>
            </a:r>
            <a:endParaRPr lang="zh-CN" sz="2000" i="1">
              <a:solidFill>
                <a:srgbClr val="5B7A99"/>
              </a:solidFill>
              <a:latin typeface="Calibri"/>
              <a:ea typeface="Calibri"/>
            </a:endParaRPr>
          </a:p>
        </p:txBody>
      </p:sp>
      <p:sp>
        <p:nvSpPr>
          <p:cNvPr id="45" name=""/>
          <p:cNvSpPr/>
          <p:nvPr/>
        </p:nvSpPr>
        <p:spPr>
          <a:xfrm>
            <a:off x="901700" y="4318000"/>
            <a:ext cx="4470400" cy="1168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5400" b="1">
                <a:solidFill>
                  <a:srgbClr val="10263B"/>
                </a:solidFill>
                <a:latin typeface="Calibri"/>
                <a:ea typeface="Calibri"/>
              </a:rPr>
              <a:t>−12.6%</a:t>
            </a:r>
            <a:endParaRPr lang="zh-CN" sz="5400" b="1">
              <a:solidFill>
                <a:srgbClr val="10263B"/>
              </a:solidFill>
              <a:latin typeface="Calibri"/>
              <a:ea typeface="Calibri"/>
            </a:endParaRPr>
          </a:p>
        </p:txBody>
      </p:sp>
      <p:sp>
        <p:nvSpPr>
          <p:cNvPr id="46" name=""/>
          <p:cNvSpPr/>
          <p:nvPr/>
        </p:nvSpPr>
        <p:spPr>
          <a:xfrm>
            <a:off x="901700" y="5562600"/>
            <a:ext cx="44704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100" b="1">
                <a:solidFill>
                  <a:srgbClr val="10263B"/>
                </a:solidFill>
                <a:latin typeface="Calibri"/>
                <a:ea typeface="Calibri"/>
              </a:rPr>
              <a:t>fleet vehicles</a:t>
            </a:r>
            <a:endParaRPr lang="zh-CN" sz="2100" b="1">
              <a:solidFill>
                <a:srgbClr val="10263B"/>
              </a:solidFill>
              <a:latin typeface="Calibri"/>
              <a:ea typeface="Calibri"/>
            </a:endParaRPr>
          </a:p>
        </p:txBody>
      </p:sp>
      <p:sp>
        <p:nvSpPr>
          <p:cNvPr id="47" name=""/>
          <p:cNvSpPr/>
          <p:nvPr/>
        </p:nvSpPr>
        <p:spPr>
          <a:xfrm>
            <a:off x="901700" y="6045200"/>
            <a:ext cx="44704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5B4A2F"/>
                </a:solidFill>
                <a:latin typeface="Calibri"/>
                <a:ea typeface="Calibri"/>
              </a:rPr>
              <a:t>best vehicles 87 → 76
over 12 instances</a:t>
            </a:r>
            <a:endParaRPr/>
          </a:p>
        </p:txBody>
      </p:sp>
      <p:sp>
        <p:nvSpPr>
          <p:cNvPr id="48" name=""/>
          <p:cNvSpPr/>
          <p:nvPr/>
        </p:nvSpPr>
        <p:spPr>
          <a:xfrm>
            <a:off x="5930900" y="4318000"/>
            <a:ext cx="4470400" cy="1168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5400" b="1">
                <a:solidFill>
                  <a:srgbClr val="FFFFFF"/>
                </a:solidFill>
                <a:latin typeface="Calibri"/>
                <a:ea typeface="Calibri"/>
              </a:rPr>
              <a:t>−5.1%</a:t>
            </a:r>
            <a:endParaRPr lang="zh-CN" sz="54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49" name=""/>
          <p:cNvSpPr/>
          <p:nvPr/>
        </p:nvSpPr>
        <p:spPr>
          <a:xfrm>
            <a:off x="5930900" y="5562600"/>
            <a:ext cx="44704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100" b="1">
                <a:solidFill>
                  <a:srgbClr val="FFFFFF"/>
                </a:solidFill>
                <a:latin typeface="Calibri"/>
                <a:ea typeface="Calibri"/>
              </a:rPr>
              <a:t>total distance</a:t>
            </a:r>
            <a:endParaRPr lang="zh-CN" sz="21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50" name=""/>
          <p:cNvSpPr/>
          <p:nvPr/>
        </p:nvSpPr>
        <p:spPr>
          <a:xfrm>
            <a:off x="5930900" y="6045200"/>
            <a:ext cx="44704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B8CBE0"/>
                </a:solidFill>
                <a:latin typeface="Calibri"/>
                <a:ea typeface="Calibri"/>
              </a:rPr>
              <a:t>7,744 → 7,349 units</a:t>
            </a:r>
            <a:endParaRPr/>
          </a:p>
        </p:txBody>
      </p:sp>
      <p:sp>
        <p:nvSpPr>
          <p:cNvPr id="51" name=""/>
          <p:cNvSpPr/>
          <p:nvPr/>
        </p:nvSpPr>
        <p:spPr>
          <a:xfrm>
            <a:off x="10960100" y="4318000"/>
            <a:ext cx="4470400" cy="1168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5400" b="1">
                <a:solidFill>
                  <a:srgbClr val="FFFFFF"/>
                </a:solidFill>
                <a:latin typeface="Calibri"/>
                <a:ea typeface="Calibri"/>
              </a:rPr>
              <a:t>36 / 36</a:t>
            </a:r>
            <a:endParaRPr lang="zh-CN" sz="54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52" name=""/>
          <p:cNvSpPr/>
          <p:nvPr/>
        </p:nvSpPr>
        <p:spPr>
          <a:xfrm>
            <a:off x="10960100" y="5562600"/>
            <a:ext cx="44704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100" b="1">
                <a:solidFill>
                  <a:srgbClr val="FFFFFF"/>
                </a:solidFill>
                <a:latin typeface="Calibri"/>
                <a:ea typeface="Calibri"/>
              </a:rPr>
              <a:t>feasible formal runs</a:t>
            </a:r>
            <a:endParaRPr lang="zh-CN" sz="21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53" name=""/>
          <p:cNvSpPr/>
          <p:nvPr/>
        </p:nvSpPr>
        <p:spPr>
          <a:xfrm>
            <a:off x="10960100" y="6045200"/>
            <a:ext cx="44704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B8CBE0"/>
                </a:solidFill>
                <a:latin typeface="Calibri"/>
                <a:ea typeface="Calibri"/>
              </a:rPr>
              <a:t>zero objective regressions</a:t>
            </a:r>
            <a:endParaRPr/>
          </a:p>
        </p:txBody>
      </p:sp>
      <p:sp>
        <p:nvSpPr>
          <p:cNvPr id="54" name=""/>
          <p:cNvSpPr/>
          <p:nvPr/>
        </p:nvSpPr>
        <p:spPr>
          <a:xfrm>
            <a:off x="15989300" y="4318000"/>
            <a:ext cx="4470400" cy="1168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5400" b="1">
                <a:solidFill>
                  <a:srgbClr val="FFFFFF"/>
                </a:solidFill>
                <a:latin typeface="Calibri"/>
                <a:ea typeface="Calibri"/>
              </a:rPr>
              <a:t>−22.0%</a:t>
            </a:r>
            <a:endParaRPr lang="zh-CN" sz="54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55" name=""/>
          <p:cNvSpPr/>
          <p:nvPr/>
        </p:nvSpPr>
        <p:spPr>
          <a:xfrm>
            <a:off x="15989300" y="5562600"/>
            <a:ext cx="44704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100" b="1">
                <a:solidFill>
                  <a:srgbClr val="FFFFFF"/>
                </a:solidFill>
                <a:latin typeface="Calibri"/>
                <a:ea typeface="Calibri"/>
              </a:rPr>
              <a:t>exact-charging CPU</a:t>
            </a:r>
            <a:endParaRPr lang="zh-CN" sz="21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56" name=""/>
          <p:cNvSpPr/>
          <p:nvPr/>
        </p:nvSpPr>
        <p:spPr>
          <a:xfrm>
            <a:off x="15989300" y="6045200"/>
            <a:ext cx="44704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B8CBE0"/>
                </a:solidFill>
                <a:latin typeface="Calibri"/>
                <a:ea typeface="Calibri"/>
              </a:rPr>
              <a:t>median saving · C instances</a:t>
            </a:r>
            <a:endParaRPr/>
          </a:p>
        </p:txBody>
      </p:sp>
      <p:sp>
        <p:nvSpPr>
          <p:cNvPr id="57" name=""/>
          <p:cNvSpPr/>
          <p:nvPr/>
        </p:nvSpPr>
        <p:spPr>
          <a:xfrm>
            <a:off x="952500" y="7200900"/>
            <a:ext cx="6731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 b="1">
                <a:solidFill>
                  <a:srgbClr val="FFFFFF"/>
                </a:solidFill>
                <a:latin typeface="Calibri"/>
                <a:ea typeface="Calibri"/>
              </a:rPr>
              <a:t>The Problem — E-VRPTW</a:t>
            </a:r>
            <a:endParaRPr lang="zh-CN" sz="20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58" name=""/>
          <p:cNvSpPr/>
          <p:nvPr/>
        </p:nvSpPr>
        <p:spPr>
          <a:xfrm>
            <a:off x="8343900" y="7200900"/>
            <a:ext cx="4826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 b="1">
                <a:solidFill>
                  <a:srgbClr val="FFFFFF"/>
                </a:solidFill>
                <a:latin typeface="Calibri"/>
                <a:ea typeface="Calibri"/>
              </a:rPr>
              <a:t>Method — ALNS Engine</a:t>
            </a:r>
            <a:endParaRPr lang="zh-CN" sz="20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59" name=""/>
          <p:cNvSpPr/>
          <p:nvPr/>
        </p:nvSpPr>
        <p:spPr>
          <a:xfrm>
            <a:off x="13830300" y="7200900"/>
            <a:ext cx="63754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 b="1">
                <a:solidFill>
                  <a:srgbClr val="FFFFFF"/>
                </a:solidFill>
                <a:latin typeface="Calibri"/>
                <a:ea typeface="Calibri"/>
              </a:rPr>
              <a:t>Protocol — Stage-Gated &amp; Audited</a:t>
            </a:r>
            <a:endParaRPr lang="zh-CN" sz="20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0" name=""/>
          <p:cNvSpPr/>
          <p:nvPr/>
        </p:nvSpPr>
        <p:spPr>
          <a:xfrm>
            <a:off x="952500" y="13487400"/>
            <a:ext cx="9525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 b="1">
                <a:solidFill>
                  <a:srgbClr val="FFFFFF"/>
                </a:solidFill>
                <a:latin typeface="Calibri"/>
                <a:ea typeface="Calibri"/>
              </a:rPr>
              <a:t>Results — Fleet Quality (12 instances × 3 seeds)</a:t>
            </a:r>
            <a:endParaRPr lang="zh-CN" sz="20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1" name=""/>
          <p:cNvSpPr/>
          <p:nvPr/>
        </p:nvSpPr>
        <p:spPr>
          <a:xfrm>
            <a:off x="11137900" y="13487400"/>
            <a:ext cx="91694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 b="1">
                <a:solidFill>
                  <a:srgbClr val="FFFFFF"/>
                </a:solidFill>
                <a:latin typeface="Calibri"/>
                <a:ea typeface="Calibri"/>
              </a:rPr>
              <a:t>Results — Exact-Charging Runtime</a:t>
            </a:r>
            <a:endParaRPr lang="zh-CN" sz="20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2" name=""/>
          <p:cNvSpPr/>
          <p:nvPr/>
        </p:nvSpPr>
        <p:spPr>
          <a:xfrm>
            <a:off x="952500" y="19329400"/>
            <a:ext cx="9525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 b="1">
                <a:solidFill>
                  <a:srgbClr val="FFFFFF"/>
                </a:solidFill>
                <a:latin typeface="Calibri"/>
                <a:ea typeface="Calibri"/>
              </a:rPr>
              <a:t>Why It Works</a:t>
            </a:r>
            <a:endParaRPr lang="zh-CN" sz="20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3" name=""/>
          <p:cNvSpPr/>
          <p:nvPr/>
        </p:nvSpPr>
        <p:spPr>
          <a:xfrm>
            <a:off x="11137900" y="19329400"/>
            <a:ext cx="91694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 b="1">
                <a:solidFill>
                  <a:srgbClr val="FFFFFF"/>
                </a:solidFill>
                <a:latin typeface="Calibri"/>
                <a:ea typeface="Calibri"/>
              </a:rPr>
              <a:t>Honest Failure Analysis</a:t>
            </a:r>
            <a:endParaRPr lang="zh-CN" sz="20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4" name=""/>
          <p:cNvSpPr/>
          <p:nvPr/>
        </p:nvSpPr>
        <p:spPr>
          <a:xfrm>
            <a:off x="952500" y="25552400"/>
            <a:ext cx="146685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 b="1">
                <a:solidFill>
                  <a:srgbClr val="FFFFFF"/>
                </a:solidFill>
                <a:latin typeface="Calibri"/>
                <a:ea typeface="Calibri"/>
              </a:rPr>
              <a:t>Take-aways</a:t>
            </a:r>
            <a:endParaRPr lang="zh-CN" sz="20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5" name=""/>
          <p:cNvSpPr/>
          <p:nvPr/>
        </p:nvSpPr>
        <p:spPr>
          <a:xfrm>
            <a:off x="825500" y="12649200"/>
            <a:ext cx="6985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i="1">
                <a:solidFill>
                  <a:srgbClr val="5B7A99"/>
                </a:solidFill>
                <a:latin typeface="Calibri"/>
                <a:ea typeface="Calibri"/>
              </a:rPr>
              <a:t>8 customers · 2 stations · hard time windows — feasibility hinges on exact charging decisions</a:t>
            </a:r>
            <a:endParaRPr lang="zh-CN" sz="1300" i="1">
              <a:solidFill>
                <a:srgbClr val="5B7A99"/>
              </a:solidFill>
              <a:latin typeface="Calibri"/>
              <a:ea typeface="Calibri"/>
            </a:endParaRPr>
          </a:p>
        </p:txBody>
      </p:sp>
      <p:sp>
        <p:nvSpPr>
          <p:cNvPr id="66" name=""/>
          <p:cNvSpPr/>
          <p:nvPr/>
        </p:nvSpPr>
        <p:spPr>
          <a:xfrm>
            <a:off x="825500" y="18592800"/>
            <a:ext cx="9779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i="1">
                <a:solidFill>
                  <a:srgbClr val="5B7A99"/>
                </a:solidFill>
                <a:latin typeface="Calibri"/>
                <a:ea typeface="Calibri"/>
              </a:rPr>
              <a:t>Vehicle-first search cuts fleet size on 5 of 12 instances while distance improves</a:t>
            </a:r>
            <a:endParaRPr lang="zh-CN" sz="1300" i="1">
              <a:solidFill>
                <a:srgbClr val="5B7A99"/>
              </a:solidFill>
              <a:latin typeface="Calibri"/>
              <a:ea typeface="Calibri"/>
            </a:endParaRPr>
          </a:p>
        </p:txBody>
      </p:sp>
      <p:sp>
        <p:nvSpPr>
          <p:cNvPr id="67" name=""/>
          <p:cNvSpPr/>
          <p:nvPr/>
        </p:nvSpPr>
        <p:spPr>
          <a:xfrm>
            <a:off x="11010900" y="18199100"/>
            <a:ext cx="9525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i="1">
                <a:solidFill>
                  <a:srgbClr val="5B7A99"/>
                </a:solidFill>
                <a:latin typeface="Calibri"/>
                <a:ea typeface="Calibri"/>
              </a:rPr>
              <a:t>CPU-batch ships as default after independent audit; control instance shows noise-level change</a:t>
            </a:r>
            <a:endParaRPr lang="zh-CN" sz="1300" i="1">
              <a:solidFill>
                <a:srgbClr val="5B7A99"/>
              </a:solidFill>
              <a:latin typeface="Calibri"/>
              <a:ea typeface="Calibri"/>
            </a:endParaRPr>
          </a:p>
        </p:txBody>
      </p:sp>
      <p:sp>
        <p:nvSpPr>
          <p:cNvPr id="68" name=""/>
          <p:cNvSpPr/>
          <p:nvPr/>
        </p:nvSpPr>
        <p:spPr>
          <a:xfrm>
            <a:off x="1270000" y="19951700"/>
            <a:ext cx="9271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22303C"/>
                </a:solidFill>
                <a:latin typeface="Calibri"/>
                <a:ea typeface="Calibri"/>
              </a:rPr>
              <a:t>Vehicle-count-aware repair — route elimination first, insertion into existing routes; fleet size can fall but never rise</a:t>
            </a:r>
            <a:endParaRPr/>
          </a:p>
        </p:txBody>
      </p:sp>
      <p:sp>
        <p:nvSpPr>
          <p:cNvPr id="69" name=""/>
          <p:cNvSpPr/>
          <p:nvPr/>
        </p:nvSpPr>
        <p:spPr>
          <a:xfrm>
            <a:off x="1270000" y="20815300"/>
            <a:ext cx="9271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22303C"/>
                </a:solidFill>
                <a:latin typeface="Calibri"/>
                <a:ea typeface="Calibri"/>
              </a:rPr>
              <a:t>Shared optimistic prefilters (capacity · time · energy) screen before exact evaluation — only changed routes re-solved</a:t>
            </a:r>
            <a:endParaRPr/>
          </a:p>
        </p:txBody>
      </p:sp>
      <p:sp>
        <p:nvSpPr>
          <p:cNvPr id="70" name=""/>
          <p:cNvSpPr/>
          <p:nvPr/>
        </p:nvSpPr>
        <p:spPr>
          <a:xfrm>
            <a:off x="1270000" y="21678900"/>
            <a:ext cx="9271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22303C"/>
                </a:solidFill>
                <a:latin typeface="Calibri"/>
                <a:ea typeface="Calibri"/>
              </a:rPr>
              <a:t>Constraint-guided destroy ranks station pressure, time-window conflicts, worst energy detours — removal lands where constraints bind</a:t>
            </a:r>
            <a:endParaRPr/>
          </a:p>
        </p:txBody>
      </p:sp>
      <p:sp>
        <p:nvSpPr>
          <p:cNvPr id="71" name=""/>
          <p:cNvSpPr/>
          <p:nvPr/>
        </p:nvSpPr>
        <p:spPr>
          <a:xfrm>
            <a:off x="1270000" y="22542500"/>
            <a:ext cx="9271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22303C"/>
                </a:solidFill>
                <a:latin typeface="Calibri"/>
                <a:ea typeface="Calibri"/>
              </a:rPr>
              <a:t>Stage 4 adaptive operator weights beat fixed weights on 7/36 runs — kept as an observable lane, not the default</a:t>
            </a:r>
            <a:endParaRPr/>
          </a:p>
        </p:txBody>
      </p:sp>
      <p:sp>
        <p:nvSpPr>
          <p:cNvPr id="72" name=""/>
          <p:cNvSpPr/>
          <p:nvPr/>
        </p:nvSpPr>
        <p:spPr>
          <a:xfrm>
            <a:off x="11455400" y="199517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22303C"/>
                </a:solidFill>
                <a:latin typeface="Calibri"/>
                <a:ea typeface="Calibri"/>
              </a:rPr>
              <a:t>92 of 124 published BKS entries are model-incompatible (fixed-fleet variants) — we report no gaps against them</a:t>
            </a:r>
            <a:endParaRPr/>
          </a:p>
        </p:txBody>
      </p:sp>
      <p:sp>
        <p:nvSpPr>
          <p:cNvPr id="73" name=""/>
          <p:cNvSpPr/>
          <p:nvPr/>
        </p:nvSpPr>
        <p:spPr>
          <a:xfrm>
            <a:off x="11455400" y="205359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22303C"/>
                </a:solidFill>
                <a:latin typeface="Calibri"/>
                <a:ea typeface="Calibri"/>
              </a:rPr>
              <a:t>C5 control: −0.12% median (spread −8.7% to +4.5%) — speedup is structure-dependent, not universal</a:t>
            </a:r>
            <a:endParaRPr/>
          </a:p>
        </p:txBody>
      </p:sp>
      <p:sp>
        <p:nvSpPr>
          <p:cNvPr id="74" name=""/>
          <p:cNvSpPr/>
          <p:nvPr/>
        </p:nvSpPr>
        <p:spPr>
          <a:xfrm>
            <a:off x="11455400" y="211201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22303C"/>
                </a:solidFill>
                <a:latin typeface="Calibri"/>
                <a:ea typeface="Calibri"/>
              </a:rPr>
              <a:t>Adaptive weights win on 7/36 runs only — the shipped default remains fixed weights</a:t>
            </a:r>
            <a:endParaRPr/>
          </a:p>
        </p:txBody>
      </p:sp>
      <p:sp>
        <p:nvSpPr>
          <p:cNvPr id="75" name=""/>
          <p:cNvSpPr/>
          <p:nvPr/>
        </p:nvSpPr>
        <p:spPr>
          <a:xfrm>
            <a:off x="11391900" y="21996400"/>
            <a:ext cx="87630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10263B"/>
                </a:solidFill>
                <a:latin typeface="Calibri"/>
                <a:ea typeface="Calibri"/>
              </a:rPr>
              <a:t>What we don't claim: no unattested baselines, no improvement beyond published evidence. Every number is replayable from raw JSON + event logs via the review CLI.</a:t>
            </a:r>
            <a:endParaRPr/>
          </a:p>
        </p:txBody>
      </p:sp>
      <p:sp>
        <p:nvSpPr>
          <p:cNvPr id="76" name=""/>
          <p:cNvSpPr/>
          <p:nvPr/>
        </p:nvSpPr>
        <p:spPr>
          <a:xfrm>
            <a:off x="1270000" y="269494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22303C"/>
                </a:solidFill>
                <a:latin typeface="Calibri"/>
                <a:ea typeface="Calibri"/>
              </a:rPr>
              <a:t>A full reproduction of SSG (2014) anchors every claim — Stage 0 is frozen and hash-verified</a:t>
            </a:r>
            <a:endParaRPr/>
          </a:p>
        </p:txBody>
      </p:sp>
      <p:sp>
        <p:nvSpPr>
          <p:cNvPr id="77" name=""/>
          <p:cNvSpPr/>
          <p:nvPr/>
        </p:nvSpPr>
        <p:spPr>
          <a:xfrm>
            <a:off x="7874000" y="269494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22303C"/>
                </a:solidFill>
                <a:latin typeface="Calibri"/>
                <a:ea typeface="Calibri"/>
              </a:rPr>
              <a:t>Quality and runtime both improved under the stage-gated pipeline: −12.6% vehicles · −5.1% distance · −22% CPU</a:t>
            </a:r>
            <a:endParaRPr/>
          </a:p>
        </p:txBody>
      </p:sp>
      <p:sp>
        <p:nvSpPr>
          <p:cNvPr id="78" name=""/>
          <p:cNvSpPr/>
          <p:nvPr/>
        </p:nvSpPr>
        <p:spPr>
          <a:xfrm>
            <a:off x="14478000" y="26949400"/>
            <a:ext cx="54610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22303C"/>
                </a:solidFill>
                <a:latin typeface="Calibri"/>
                <a:ea typeface="Calibri"/>
              </a:rPr>
              <a:t>All evidence — successes and failures — is published and independently re-playable</a:t>
            </a:r>
            <a:endParaRPr/>
          </a:p>
        </p:txBody>
      </p:sp>
      <p:sp>
        <p:nvSpPr>
          <p:cNvPr id="79" name=""/>
          <p:cNvSpPr/>
          <p:nvPr/>
        </p:nvSpPr>
        <p:spPr>
          <a:xfrm>
            <a:off x="11137900" y="23863300"/>
            <a:ext cx="9169400" cy="1206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5B7A99"/>
                </a:solidFill>
                <a:latin typeface="Calibri"/>
                <a:ea typeface="Calibri"/>
              </a:rPr>
              <a:t>[1] Schneider, Stenger &amp; Goeke (2014) Transp. Sci. 48(4):500–520
[2] Pisinger &amp; Ropke (2006) Transp. Res. B
[3] Keskin &amp; Çatay (2016) Transp. Res. E
[4] Hottung, Kwon &amp; Tierney (2022) EJOR</a:t>
            </a:r>
            <a:endParaRPr/>
          </a:p>
        </p:txBody>
      </p:sp>
      <p:sp>
        <p:nvSpPr>
          <p:cNvPr id="80" name=""/>
          <p:cNvSpPr/>
          <p:nvPr/>
        </p:nvSpPr>
        <p:spPr>
          <a:xfrm>
            <a:off x="14605000" y="24511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 b="1">
                <a:solidFill>
                  <a:srgbClr val="10263B"/>
                </a:solidFill>
                <a:latin typeface="Calibri"/>
                <a:ea typeface="Calibri"/>
              </a:rPr>
              <a:t>Scan for code &amp; evidence</a:t>
            </a:r>
            <a:endParaRPr lang="zh-CN" sz="1800" b="1">
              <a:solidFill>
                <a:srgbClr val="10263B"/>
              </a:solidFill>
              <a:latin typeface="Calibri"/>
              <a:ea typeface="Calibri"/>
            </a:endParaRPr>
          </a:p>
        </p:txBody>
      </p:sp>
      <p:sp>
        <p:nvSpPr>
          <p:cNvPr id="81" name=""/>
          <p:cNvSpPr/>
          <p:nvPr/>
        </p:nvSpPr>
        <p:spPr>
          <a:xfrm>
            <a:off x="14605000" y="29337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B7A99"/>
                </a:solidFill>
                <a:latin typeface="Calibri"/>
                <a:ea typeface="Calibri"/>
              </a:rPr>
              <a:t>github.com/0neblaze/FURP-2026-Yiyang-GUO-EVRP-TW</a:t>
            </a:r>
            <a:endParaRPr lang="zh-CN" sz="1200">
              <a:solidFill>
                <a:srgbClr val="5B7A99"/>
              </a:solidFill>
              <a:latin typeface="Calibri"/>
              <a:ea typeface="Calibri"/>
            </a:endParaRPr>
          </a:p>
        </p:txBody>
      </p:sp>
      <p:sp>
        <p:nvSpPr>
          <p:cNvPr id="82" name=""/>
          <p:cNvSpPr/>
          <p:nvPr/>
        </p:nvSpPr>
        <p:spPr>
          <a:xfrm>
            <a:off x="1270000" y="23406100"/>
            <a:ext cx="9271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22303C"/>
                </a:solidFill>
                <a:latin typeface="Calibri"/>
                <a:ea typeface="Calibri"/>
              </a:rPr>
              <a:t>Lexicographic objective — vehicles first: every acceptance step rejects any candidate that increases fleet size</a:t>
            </a:r>
            <a:endParaRPr/>
          </a:p>
        </p:txBody>
      </p:sp>
      <p:sp>
        <p:nvSpPr>
          <p:cNvPr id="83" name=""/>
          <p:cNvSpPr/>
          <p:nvPr/>
        </p:nvSpPr>
        <p:spPr>
          <a:xfrm>
            <a:off x="1270000" y="24269700"/>
            <a:ext cx="9271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>
                <a:solidFill>
                  <a:srgbClr val="22303C"/>
                </a:solidFill>
                <a:latin typeface="Calibri"/>
                <a:ea typeface="Calibri"/>
              </a:rPr>
              <a:t>Independent review CLI replays raw solutions, event logs &amp; hashes before any number is published</a:t>
            </a:r>
            <a:endParaRPr/>
          </a:p>
        </p:txBody>
      </p:sp>
      <p:sp>
        <p:nvSpPr>
          <p:cNvPr id="84" name=""/>
          <p:cNvSpPr/>
          <p:nvPr/>
        </p:nvSpPr>
        <p:spPr>
          <a:xfrm>
            <a:off x="11137900" y="233172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FFFFFF"/>
                </a:solidFill>
                <a:latin typeface="Calibri"/>
                <a:ea typeface="Calibri"/>
              </a:rPr>
              <a:t>References</a:t>
            </a:r>
            <a:endParaRPr lang="zh-CN" sz="16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pic>
        <p:nvPicPr>
          <p:cNvPr id="85" name=""/>
          <p:cNvPicPr/>
          <p:nvPr/>
        </p:nvPicPr>
        <p:blipFill>
          <a:blip r:embed="rId2"/>
          <a:stretch/>
        </p:blipFill>
        <p:spPr>
          <a:xfrm>
            <a:off x="698500" y="7861300"/>
            <a:ext cx="7239000" cy="4572000"/>
          </a:xfrm>
          <a:prstGeom prst="rect"/>
        </p:spPr>
      </p:pic>
      <p:pic>
        <p:nvPicPr>
          <p:cNvPr id="86" name=""/>
          <p:cNvPicPr/>
          <p:nvPr/>
        </p:nvPicPr>
        <p:blipFill>
          <a:blip r:embed="rId3"/>
          <a:stretch/>
        </p:blipFill>
        <p:spPr>
          <a:xfrm>
            <a:off x="8089900" y="7810500"/>
            <a:ext cx="5334000" cy="5029200"/>
          </a:xfrm>
          <a:prstGeom prst="rect"/>
        </p:spPr>
      </p:pic>
      <p:pic>
        <p:nvPicPr>
          <p:cNvPr id="87" name=""/>
          <p:cNvPicPr/>
          <p:nvPr/>
        </p:nvPicPr>
        <p:blipFill>
          <a:blip r:embed="rId4"/>
          <a:stretch/>
        </p:blipFill>
        <p:spPr>
          <a:xfrm>
            <a:off x="13576300" y="7810500"/>
            <a:ext cx="7086600" cy="5232400"/>
          </a:xfrm>
          <a:prstGeom prst="rect"/>
        </p:spPr>
      </p:pic>
      <p:pic>
        <p:nvPicPr>
          <p:cNvPr id="88" name=""/>
          <p:cNvPicPr/>
          <p:nvPr/>
        </p:nvPicPr>
        <p:blipFill>
          <a:blip r:embed="rId5"/>
          <a:stretch/>
        </p:blipFill>
        <p:spPr>
          <a:xfrm>
            <a:off x="698500" y="14122400"/>
            <a:ext cx="10033000" cy="4318000"/>
          </a:xfrm>
          <a:prstGeom prst="rect"/>
        </p:spPr>
      </p:pic>
      <p:pic>
        <p:nvPicPr>
          <p:cNvPr id="89" name=""/>
          <p:cNvPicPr/>
          <p:nvPr/>
        </p:nvPicPr>
        <p:blipFill>
          <a:blip r:embed="rId6"/>
          <a:stretch/>
        </p:blipFill>
        <p:spPr>
          <a:xfrm>
            <a:off x="10883900" y="14122400"/>
            <a:ext cx="9779000" cy="3975100"/>
          </a:xfrm>
          <a:prstGeom prst="rect"/>
        </p:spPr>
      </p:pic>
      <p:pic>
        <p:nvPicPr>
          <p:cNvPr id="90" name=""/>
          <p:cNvPicPr/>
          <p:nvPr/>
        </p:nvPicPr>
        <p:blipFill>
          <a:blip r:embed="rId7"/>
          <a:stretch/>
        </p:blipFill>
        <p:spPr>
          <a:xfrm>
            <a:off x="19050000" y="2006600"/>
            <a:ext cx="1676400" cy="1676400"/>
          </a:xfrm>
          <a:prstGeom prst="rect"/>
        </p:spPr>
      </p:pic>
      <p:sp>
        <p:nvSpPr>
          <p:cNvPr id="91" name=""/>
          <p:cNvSpPr/>
          <p:nvPr/>
        </p:nvSpPr>
        <p:spPr>
          <a:xfrm>
            <a:off x="1270000" y="28524200"/>
            <a:ext cx="1879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5B7A99"/>
                </a:solidFill>
                <a:latin typeface="Calibri"/>
                <a:ea typeface="Calibri"/>
              </a:rPr>
              <a:t>How to verify: every number in this poster replays from raw JSON + event logs via the independent review CLI — scan the QR (top right) for code &amp; evidence.</a:t>
            </a:r>
            <a:endParaRPr/>
          </a:p>
        </p:txBody>
      </p:sp>
      <p:sp>
        <p:nvSpPr>
          <p:cNvPr id="92" name=""/>
          <p:cNvSpPr/>
          <p:nvPr/>
        </p:nvSpPr>
        <p:spPr>
          <a:xfrm>
            <a:off x="952500" y="19977100"/>
            <a:ext cx="254000" cy="25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p/>
        </p:txBody>
      </p:sp>
      <p:sp>
        <p:nvSpPr>
          <p:cNvPr id="93" name=""/>
          <p:cNvSpPr/>
          <p:nvPr/>
        </p:nvSpPr>
        <p:spPr>
          <a:xfrm>
            <a:off x="952500" y="20840700"/>
            <a:ext cx="254000" cy="25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p/>
        </p:txBody>
      </p:sp>
      <p:sp>
        <p:nvSpPr>
          <p:cNvPr id="94" name=""/>
          <p:cNvSpPr/>
          <p:nvPr/>
        </p:nvSpPr>
        <p:spPr>
          <a:xfrm>
            <a:off x="952500" y="21704300"/>
            <a:ext cx="254000" cy="25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p/>
        </p:txBody>
      </p:sp>
      <p:sp>
        <p:nvSpPr>
          <p:cNvPr id="95" name=""/>
          <p:cNvSpPr/>
          <p:nvPr/>
        </p:nvSpPr>
        <p:spPr>
          <a:xfrm>
            <a:off x="952500" y="22567900"/>
            <a:ext cx="254000" cy="25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p/>
        </p:txBody>
      </p:sp>
      <p:sp>
        <p:nvSpPr>
          <p:cNvPr id="96" name=""/>
          <p:cNvSpPr/>
          <p:nvPr/>
        </p:nvSpPr>
        <p:spPr>
          <a:xfrm>
            <a:off x="952500" y="23431500"/>
            <a:ext cx="254000" cy="25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p/>
        </p:txBody>
      </p:sp>
      <p:sp>
        <p:nvSpPr>
          <p:cNvPr id="97" name=""/>
          <p:cNvSpPr/>
          <p:nvPr/>
        </p:nvSpPr>
        <p:spPr>
          <a:xfrm>
            <a:off x="952500" y="24295100"/>
            <a:ext cx="254000" cy="254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p/>
        </p:txBody>
      </p:sp>
      <p:sp>
        <p:nvSpPr>
          <p:cNvPr id="98" name=""/>
          <p:cNvSpPr/>
          <p:nvPr/>
        </p:nvSpPr>
        <p:spPr>
          <a:xfrm>
            <a:off x="11137900" y="19964400"/>
            <a:ext cx="254000" cy="254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>
            <a:off x="11137900" y="20548600"/>
            <a:ext cx="254000" cy="254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p/>
        </p:txBody>
      </p:sp>
      <p:sp>
        <p:nvSpPr>
          <p:cNvPr id="100" name=""/>
          <p:cNvSpPr/>
          <p:nvPr/>
        </p:nvSpPr>
        <p:spPr>
          <a:xfrm>
            <a:off x="11137900" y="21132800"/>
            <a:ext cx="254000" cy="254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>
            <a:off x="952500" y="26860500"/>
            <a:ext cx="254000" cy="254000"/>
          </a:xfrm>
          <a:prstGeom prst="ellipse">
            <a:avLst/>
          </a:prstGeom>
          <a:solidFill>
            <a:srgbClr val="10263B"/>
          </a:solidFill>
          <a:ln>
            <a:noFill/>
          </a:ln>
        </p:spPr>
        <p:txBody>
          <a:bodyPr/>
          <a:p/>
        </p:txBody>
      </p:sp>
      <p:sp>
        <p:nvSpPr>
          <p:cNvPr id="102" name=""/>
          <p:cNvSpPr/>
          <p:nvPr/>
        </p:nvSpPr>
        <p:spPr>
          <a:xfrm>
            <a:off x="7556500" y="26860500"/>
            <a:ext cx="254000" cy="254000"/>
          </a:xfrm>
          <a:prstGeom prst="ellipse">
            <a:avLst/>
          </a:prstGeom>
          <a:solidFill>
            <a:srgbClr val="10263B"/>
          </a:solidFill>
          <a:ln>
            <a:noFill/>
          </a:ln>
        </p:spPr>
        <p:txBody>
          <a:bodyPr/>
          <a:p/>
        </p:txBody>
      </p:sp>
      <p:sp>
        <p:nvSpPr>
          <p:cNvPr id="103" name=""/>
          <p:cNvSpPr/>
          <p:nvPr/>
        </p:nvSpPr>
        <p:spPr>
          <a:xfrm>
            <a:off x="14160500" y="26860500"/>
            <a:ext cx="254000" cy="254000"/>
          </a:xfrm>
          <a:prstGeom prst="ellipse">
            <a:avLst/>
          </a:prstGeom>
          <a:solidFill>
            <a:srgbClr val="10263B"/>
          </a:solidFill>
          <a:ln>
            <a:noFill/>
          </a:ln>
        </p:spPr>
        <p:txBody>
          <a:bodyPr/>
          <a:p/>
        </p:txBody>
      </p:sp>
      <p:sp>
        <p:nvSpPr>
          <p:cNvPr id="104" name=""/>
          <p:cNvSpPr/>
          <p:nvPr/>
        </p:nvSpPr>
        <p:spPr>
          <a:xfrm>
            <a:off x="1003300" y="20015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05" name=""/>
          <p:cNvSpPr/>
          <p:nvPr/>
        </p:nvSpPr>
        <p:spPr>
          <a:xfrm>
            <a:off x="1003300" y="20878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06" name=""/>
          <p:cNvSpPr/>
          <p:nvPr/>
        </p:nvSpPr>
        <p:spPr>
          <a:xfrm>
            <a:off x="1003300" y="217424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07" name=""/>
          <p:cNvSpPr/>
          <p:nvPr/>
        </p:nvSpPr>
        <p:spPr>
          <a:xfrm>
            <a:off x="1003300" y="226060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08" name=""/>
          <p:cNvSpPr/>
          <p:nvPr/>
        </p:nvSpPr>
        <p:spPr>
          <a:xfrm>
            <a:off x="1003300" y="234696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09" name=""/>
          <p:cNvSpPr/>
          <p:nvPr/>
        </p:nvSpPr>
        <p:spPr>
          <a:xfrm>
            <a:off x="1003300" y="24333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10" name=""/>
          <p:cNvSpPr/>
          <p:nvPr/>
        </p:nvSpPr>
        <p:spPr>
          <a:xfrm>
            <a:off x="11188700" y="200025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11" name=""/>
          <p:cNvSpPr/>
          <p:nvPr/>
        </p:nvSpPr>
        <p:spPr>
          <a:xfrm>
            <a:off x="11188700" y="205867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12" name=""/>
          <p:cNvSpPr/>
          <p:nvPr/>
        </p:nvSpPr>
        <p:spPr>
          <a:xfrm>
            <a:off x="11188700" y="211709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13" name=""/>
          <p:cNvSpPr/>
          <p:nvPr/>
        </p:nvSpPr>
        <p:spPr>
          <a:xfrm>
            <a:off x="1003300" y="268986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14" name=""/>
          <p:cNvSpPr/>
          <p:nvPr/>
        </p:nvSpPr>
        <p:spPr>
          <a:xfrm>
            <a:off x="7607300" y="268986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15" name=""/>
          <p:cNvSpPr/>
          <p:nvPr/>
        </p:nvSpPr>
        <p:spPr>
          <a:xfrm>
            <a:off x="14211300" y="268986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Segoe UI Symbol"/>
                <a:ea typeface="Segoe UI Symbol"/>
              </a:rPr>
              <a:t>✓</a:t>
            </a:r>
            <a:endParaRPr lang="zh-CN" sz="1100" b="1">
              <a:solidFill>
                <a:srgbClr val="FFFFFF"/>
              </a:solidFill>
              <a:latin typeface="Segoe UI Symbol"/>
              <a:ea typeface="Segoe UI Symbol"/>
            </a:endParaRPr>
          </a:p>
        </p:txBody>
      </p:sp>
      <p:sp>
        <p:nvSpPr>
          <p:cNvPr id="116" name=""/>
          <p:cNvSpPr/>
          <p:nvPr/>
        </p:nvSpPr>
        <p:spPr>
          <a:xfrm>
            <a:off x="11938000" y="9144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FFFFFF"/>
                </a:solidFill>
                <a:latin typeface="Calibri"/>
                <a:ea typeface="Calibri"/>
              </a:rPr>
              <a:t>Yiyang Guo (Student ID: 20719106) · Supervisor: Tianxing Cui</a:t>
            </a:r>
            <a:endParaRPr lang="zh-CN" sz="2400" b="1">
              <a:solidFill>
                <a:srgbClr val="FFFFFF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2026-09-14T22:52:42Z</dcterms:created>
  <dcterms:modified xsi:type="dcterms:W3CDTF">2026-09-14T22:52:42Z</dcterms:modified>
</cp:coreProperties>
</file>