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56" r:id="rId5"/>
  </p:sldIdLst>
  <p:sldSz cx="21396325" cy="30267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5FD"/>
    <a:srgbClr val="10263B"/>
    <a:srgbClr val="2E6CA4"/>
    <a:srgbClr val="FD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4" d="100"/>
          <a:sy n="24" d="100"/>
        </p:scale>
        <p:origin x="3189" y="93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A4E7C-A5F0-4FE5-8330-355267B31AB8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852EBE-0CE0-4E48-8B13-EE46F21E4B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69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52EBE-0CE0-4E48-8B13-EE46F21E4BF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97841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4725" y="4953466"/>
            <a:ext cx="18186876" cy="10537496"/>
          </a:xfrm>
        </p:spPr>
        <p:txBody>
          <a:bodyPr anchor="b"/>
          <a:lstStyle>
            <a:lvl1pPr algn="ctr">
              <a:defRPr sz="14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4541" y="15897328"/>
            <a:ext cx="16047244" cy="7307583"/>
          </a:xfrm>
        </p:spPr>
        <p:txBody>
          <a:bodyPr/>
          <a:lstStyle>
            <a:lvl1pPr marL="0" indent="0" algn="ctr">
              <a:buNone/>
              <a:defRPr sz="5616"/>
            </a:lvl1pPr>
            <a:lvl2pPr marL="1069802" indent="0" algn="ctr">
              <a:buNone/>
              <a:defRPr sz="4680"/>
            </a:lvl2pPr>
            <a:lvl3pPr marL="2139605" indent="0" algn="ctr">
              <a:buNone/>
              <a:defRPr sz="4212"/>
            </a:lvl3pPr>
            <a:lvl4pPr marL="3209407" indent="0" algn="ctr">
              <a:buNone/>
              <a:defRPr sz="3744"/>
            </a:lvl4pPr>
            <a:lvl5pPr marL="4279209" indent="0" algn="ctr">
              <a:buNone/>
              <a:defRPr sz="3744"/>
            </a:lvl5pPr>
            <a:lvl6pPr marL="5349011" indent="0" algn="ctr">
              <a:buNone/>
              <a:defRPr sz="3744"/>
            </a:lvl6pPr>
            <a:lvl7pPr marL="6418814" indent="0" algn="ctr">
              <a:buNone/>
              <a:defRPr sz="3744"/>
            </a:lvl7pPr>
            <a:lvl8pPr marL="7488616" indent="0" algn="ctr">
              <a:buNone/>
              <a:defRPr sz="3744"/>
            </a:lvl8pPr>
            <a:lvl9pPr marL="8558418" indent="0" algn="ctr">
              <a:buNone/>
              <a:defRPr sz="37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496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609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9855" y="7545809"/>
            <a:ext cx="18454330" cy="12590343"/>
          </a:xfrm>
        </p:spPr>
        <p:txBody>
          <a:bodyPr anchor="b"/>
          <a:lstStyle>
            <a:lvl1pPr>
              <a:defRPr sz="14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9855" y="20255262"/>
            <a:ext cx="18454330" cy="6620964"/>
          </a:xfrm>
        </p:spPr>
        <p:txBody>
          <a:bodyPr/>
          <a:lstStyle>
            <a:lvl1pPr marL="0" indent="0">
              <a:buNone/>
              <a:defRPr sz="5616">
                <a:solidFill>
                  <a:schemeClr val="tx1"/>
                </a:solidFill>
              </a:defRPr>
            </a:lvl1pPr>
            <a:lvl2pPr marL="1069802" indent="0">
              <a:buNone/>
              <a:defRPr sz="4680">
                <a:solidFill>
                  <a:schemeClr val="tx1">
                    <a:tint val="75000"/>
                  </a:schemeClr>
                </a:solidFill>
              </a:defRPr>
            </a:lvl2pPr>
            <a:lvl3pPr marL="2139605" indent="0">
              <a:buNone/>
              <a:defRPr sz="4212">
                <a:solidFill>
                  <a:schemeClr val="tx1">
                    <a:tint val="75000"/>
                  </a:schemeClr>
                </a:solidFill>
              </a:defRPr>
            </a:lvl3pPr>
            <a:lvl4pPr marL="3209407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4pPr>
            <a:lvl5pPr marL="4279209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5pPr>
            <a:lvl6pPr marL="5349011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6pPr>
            <a:lvl7pPr marL="6418814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7pPr>
            <a:lvl8pPr marL="7488616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8pPr>
            <a:lvl9pPr marL="8558418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233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997" y="8057261"/>
            <a:ext cx="9093438" cy="192043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31890" y="8057261"/>
            <a:ext cx="9093438" cy="192043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828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84" y="1611459"/>
            <a:ext cx="18454330" cy="58502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87" y="7419688"/>
            <a:ext cx="9051647" cy="3636275"/>
          </a:xfrm>
        </p:spPr>
        <p:txBody>
          <a:bodyPr anchor="b"/>
          <a:lstStyle>
            <a:lvl1pPr marL="0" indent="0">
              <a:buNone/>
              <a:defRPr sz="5616" b="1"/>
            </a:lvl1pPr>
            <a:lvl2pPr marL="1069802" indent="0">
              <a:buNone/>
              <a:defRPr sz="4680" b="1"/>
            </a:lvl2pPr>
            <a:lvl3pPr marL="2139605" indent="0">
              <a:buNone/>
              <a:defRPr sz="4212" b="1"/>
            </a:lvl3pPr>
            <a:lvl4pPr marL="3209407" indent="0">
              <a:buNone/>
              <a:defRPr sz="3744" b="1"/>
            </a:lvl4pPr>
            <a:lvl5pPr marL="4279209" indent="0">
              <a:buNone/>
              <a:defRPr sz="3744" b="1"/>
            </a:lvl5pPr>
            <a:lvl6pPr marL="5349011" indent="0">
              <a:buNone/>
              <a:defRPr sz="3744" b="1"/>
            </a:lvl6pPr>
            <a:lvl7pPr marL="6418814" indent="0">
              <a:buNone/>
              <a:defRPr sz="3744" b="1"/>
            </a:lvl7pPr>
            <a:lvl8pPr marL="7488616" indent="0">
              <a:buNone/>
              <a:defRPr sz="3744" b="1"/>
            </a:lvl8pPr>
            <a:lvl9pPr marL="8558418" indent="0">
              <a:buNone/>
              <a:defRPr sz="374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3787" y="11055963"/>
            <a:ext cx="9051647" cy="162616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31891" y="7419688"/>
            <a:ext cx="9096225" cy="3636275"/>
          </a:xfrm>
        </p:spPr>
        <p:txBody>
          <a:bodyPr anchor="b"/>
          <a:lstStyle>
            <a:lvl1pPr marL="0" indent="0">
              <a:buNone/>
              <a:defRPr sz="5616" b="1"/>
            </a:lvl1pPr>
            <a:lvl2pPr marL="1069802" indent="0">
              <a:buNone/>
              <a:defRPr sz="4680" b="1"/>
            </a:lvl2pPr>
            <a:lvl3pPr marL="2139605" indent="0">
              <a:buNone/>
              <a:defRPr sz="4212" b="1"/>
            </a:lvl3pPr>
            <a:lvl4pPr marL="3209407" indent="0">
              <a:buNone/>
              <a:defRPr sz="3744" b="1"/>
            </a:lvl4pPr>
            <a:lvl5pPr marL="4279209" indent="0">
              <a:buNone/>
              <a:defRPr sz="3744" b="1"/>
            </a:lvl5pPr>
            <a:lvl6pPr marL="5349011" indent="0">
              <a:buNone/>
              <a:defRPr sz="3744" b="1"/>
            </a:lvl6pPr>
            <a:lvl7pPr marL="6418814" indent="0">
              <a:buNone/>
              <a:defRPr sz="3744" b="1"/>
            </a:lvl7pPr>
            <a:lvl8pPr marL="7488616" indent="0">
              <a:buNone/>
              <a:defRPr sz="3744" b="1"/>
            </a:lvl8pPr>
            <a:lvl9pPr marL="8558418" indent="0">
              <a:buNone/>
              <a:defRPr sz="374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31891" y="11055963"/>
            <a:ext cx="9096225" cy="162616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279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17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664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84" y="2017818"/>
            <a:ext cx="6900872" cy="7062364"/>
          </a:xfrm>
        </p:spPr>
        <p:txBody>
          <a:bodyPr anchor="b"/>
          <a:lstStyle>
            <a:lvl1pPr>
              <a:defRPr sz="74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6225" y="4357934"/>
            <a:ext cx="10831890" cy="21509383"/>
          </a:xfrm>
        </p:spPr>
        <p:txBody>
          <a:bodyPr/>
          <a:lstStyle>
            <a:lvl1pPr>
              <a:defRPr sz="7488"/>
            </a:lvl1pPr>
            <a:lvl2pPr>
              <a:defRPr sz="6552"/>
            </a:lvl2pPr>
            <a:lvl3pPr>
              <a:defRPr sz="5616"/>
            </a:lvl3pPr>
            <a:lvl4pPr>
              <a:defRPr sz="4680"/>
            </a:lvl4pPr>
            <a:lvl5pPr>
              <a:defRPr sz="4680"/>
            </a:lvl5pPr>
            <a:lvl6pPr>
              <a:defRPr sz="4680"/>
            </a:lvl6pPr>
            <a:lvl7pPr>
              <a:defRPr sz="4680"/>
            </a:lvl7pPr>
            <a:lvl8pPr>
              <a:defRPr sz="4680"/>
            </a:lvl8pPr>
            <a:lvl9pPr>
              <a:defRPr sz="468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784" y="9080183"/>
            <a:ext cx="6900872" cy="16822161"/>
          </a:xfrm>
        </p:spPr>
        <p:txBody>
          <a:bodyPr/>
          <a:lstStyle>
            <a:lvl1pPr marL="0" indent="0">
              <a:buNone/>
              <a:defRPr sz="3744"/>
            </a:lvl1pPr>
            <a:lvl2pPr marL="1069802" indent="0">
              <a:buNone/>
              <a:defRPr sz="3276"/>
            </a:lvl2pPr>
            <a:lvl3pPr marL="2139605" indent="0">
              <a:buNone/>
              <a:defRPr sz="2808"/>
            </a:lvl3pPr>
            <a:lvl4pPr marL="3209407" indent="0">
              <a:buNone/>
              <a:defRPr sz="2340"/>
            </a:lvl4pPr>
            <a:lvl5pPr marL="4279209" indent="0">
              <a:buNone/>
              <a:defRPr sz="2340"/>
            </a:lvl5pPr>
            <a:lvl6pPr marL="5349011" indent="0">
              <a:buNone/>
              <a:defRPr sz="2340"/>
            </a:lvl6pPr>
            <a:lvl7pPr marL="6418814" indent="0">
              <a:buNone/>
              <a:defRPr sz="2340"/>
            </a:lvl7pPr>
            <a:lvl8pPr marL="7488616" indent="0">
              <a:buNone/>
              <a:defRPr sz="2340"/>
            </a:lvl8pPr>
            <a:lvl9pPr marL="8558418" indent="0">
              <a:buNone/>
              <a:defRPr sz="234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366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84" y="2017818"/>
            <a:ext cx="6900872" cy="7062364"/>
          </a:xfrm>
        </p:spPr>
        <p:txBody>
          <a:bodyPr anchor="b"/>
          <a:lstStyle>
            <a:lvl1pPr>
              <a:defRPr sz="74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6225" y="4357934"/>
            <a:ext cx="10831890" cy="21509383"/>
          </a:xfrm>
        </p:spPr>
        <p:txBody>
          <a:bodyPr anchor="t"/>
          <a:lstStyle>
            <a:lvl1pPr marL="0" indent="0">
              <a:buNone/>
              <a:defRPr sz="7488"/>
            </a:lvl1pPr>
            <a:lvl2pPr marL="1069802" indent="0">
              <a:buNone/>
              <a:defRPr sz="6552"/>
            </a:lvl2pPr>
            <a:lvl3pPr marL="2139605" indent="0">
              <a:buNone/>
              <a:defRPr sz="5616"/>
            </a:lvl3pPr>
            <a:lvl4pPr marL="3209407" indent="0">
              <a:buNone/>
              <a:defRPr sz="4680"/>
            </a:lvl4pPr>
            <a:lvl5pPr marL="4279209" indent="0">
              <a:buNone/>
              <a:defRPr sz="4680"/>
            </a:lvl5pPr>
            <a:lvl6pPr marL="5349011" indent="0">
              <a:buNone/>
              <a:defRPr sz="4680"/>
            </a:lvl6pPr>
            <a:lvl7pPr marL="6418814" indent="0">
              <a:buNone/>
              <a:defRPr sz="4680"/>
            </a:lvl7pPr>
            <a:lvl8pPr marL="7488616" indent="0">
              <a:buNone/>
              <a:defRPr sz="4680"/>
            </a:lvl8pPr>
            <a:lvl9pPr marL="8558418" indent="0">
              <a:buNone/>
              <a:defRPr sz="46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784" y="9080183"/>
            <a:ext cx="6900872" cy="16822161"/>
          </a:xfrm>
        </p:spPr>
        <p:txBody>
          <a:bodyPr/>
          <a:lstStyle>
            <a:lvl1pPr marL="0" indent="0">
              <a:buNone/>
              <a:defRPr sz="3744"/>
            </a:lvl1pPr>
            <a:lvl2pPr marL="1069802" indent="0">
              <a:buNone/>
              <a:defRPr sz="3276"/>
            </a:lvl2pPr>
            <a:lvl3pPr marL="2139605" indent="0">
              <a:buNone/>
              <a:defRPr sz="2808"/>
            </a:lvl3pPr>
            <a:lvl4pPr marL="3209407" indent="0">
              <a:buNone/>
              <a:defRPr sz="2340"/>
            </a:lvl4pPr>
            <a:lvl5pPr marL="4279209" indent="0">
              <a:buNone/>
              <a:defRPr sz="2340"/>
            </a:lvl5pPr>
            <a:lvl6pPr marL="5349011" indent="0">
              <a:buNone/>
              <a:defRPr sz="2340"/>
            </a:lvl6pPr>
            <a:lvl7pPr marL="6418814" indent="0">
              <a:buNone/>
              <a:defRPr sz="2340"/>
            </a:lvl7pPr>
            <a:lvl8pPr marL="7488616" indent="0">
              <a:buNone/>
              <a:defRPr sz="2340"/>
            </a:lvl8pPr>
            <a:lvl9pPr marL="8558418" indent="0">
              <a:buNone/>
              <a:defRPr sz="234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898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826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11746" y="1611452"/>
            <a:ext cx="4613583" cy="25650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998" y="1611452"/>
            <a:ext cx="13573294" cy="256501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6939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998" y="1611459"/>
            <a:ext cx="18454330" cy="5850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998" y="8057261"/>
            <a:ext cx="18454330" cy="19204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997" y="28053287"/>
            <a:ext cx="4814173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DC1AB-DFEF-4E69-ADD9-F403144A751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7533" y="28053287"/>
            <a:ext cx="7221260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11155" y="28053287"/>
            <a:ext cx="4814173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548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39605" rtl="0" eaLnBrk="1" latinLnBrk="0" hangingPunct="1">
        <a:lnSpc>
          <a:spcPct val="90000"/>
        </a:lnSpc>
        <a:spcBef>
          <a:spcPct val="0"/>
        </a:spcBef>
        <a:buNone/>
        <a:defRPr sz="102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901" indent="-534901" algn="l" defTabSz="2139605" rtl="0" eaLnBrk="1" latinLnBrk="0" hangingPunct="1">
        <a:lnSpc>
          <a:spcPct val="90000"/>
        </a:lnSpc>
        <a:spcBef>
          <a:spcPts val="2340"/>
        </a:spcBef>
        <a:buFont typeface="Arial" panose="020B0604020202020204" pitchFamily="34" charset="0"/>
        <a:buChar char="•"/>
        <a:defRPr sz="6552" kern="1200">
          <a:solidFill>
            <a:schemeClr val="tx1"/>
          </a:solidFill>
          <a:latin typeface="+mn-lt"/>
          <a:ea typeface="+mn-ea"/>
          <a:cs typeface="+mn-cs"/>
        </a:defRPr>
      </a:lvl1pPr>
      <a:lvl2pPr marL="1604703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5616" kern="1200">
          <a:solidFill>
            <a:schemeClr val="tx1"/>
          </a:solidFill>
          <a:latin typeface="+mn-lt"/>
          <a:ea typeface="+mn-ea"/>
          <a:cs typeface="+mn-cs"/>
        </a:defRPr>
      </a:lvl2pPr>
      <a:lvl3pPr marL="2674506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680" kern="1200">
          <a:solidFill>
            <a:schemeClr val="tx1"/>
          </a:solidFill>
          <a:latin typeface="+mn-lt"/>
          <a:ea typeface="+mn-ea"/>
          <a:cs typeface="+mn-cs"/>
        </a:defRPr>
      </a:lvl3pPr>
      <a:lvl4pPr marL="3744308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4pPr>
      <a:lvl5pPr marL="4814110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5pPr>
      <a:lvl6pPr marL="5883913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6pPr>
      <a:lvl7pPr marL="6953715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7pPr>
      <a:lvl8pPr marL="8023517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8pPr>
      <a:lvl9pPr marL="9093319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1pPr>
      <a:lvl2pPr marL="1069802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2pPr>
      <a:lvl3pPr marL="2139605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3pPr>
      <a:lvl4pPr marL="3209407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4pPr>
      <a:lvl5pPr marL="4279209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5pPr>
      <a:lvl6pPr marL="5349011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6pPr>
      <a:lvl7pPr marL="6418814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7pPr>
      <a:lvl8pPr marL="7488616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8pPr>
      <a:lvl9pPr marL="8558418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microsoft.com/office/2007/relationships/hdphoto" Target="../media/hdphoto1.wdp"/><Relationship Id="rId9" Type="http://schemas.openxmlformats.org/officeDocument/2006/relationships/image" Target="../media/image6.png"/><Relationship Id="rId10" Type="http://schemas.openxmlformats.org/officeDocument/2006/relationships/image" Target="../media/image7.png"/><Relationship Id="rId11" Type="http://schemas.openxmlformats.org/officeDocument/2006/relationships/image" Target="../media/image8.png"/><Relationship Id="rId12" Type="http://schemas.openxmlformats.org/officeDocument/2006/relationships/image" Target="../media/image9.png"/><Relationship Id="rId13" Type="http://schemas.openxmlformats.org/officeDocument/2006/relationships/image" Target="../media/image10.png"/><Relationship Id="rId14" Type="http://schemas.openxmlformats.org/officeDocument/2006/relationships/image" Target="../media/image11.png"/><Relationship Id="rId15" Type="http://schemas.openxmlformats.org/officeDocument/2006/relationships/image" Target="../media/image12.png"/><Relationship Id="rId16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7" name="组合 1036">
            <a:extLst>
              <a:ext uri="{FF2B5EF4-FFF2-40B4-BE49-F238E27FC236}">
                <a16:creationId xmlns:a16="http://schemas.microsoft.com/office/drawing/2014/main" id="{AB8EFF1F-6CF5-5710-B6EE-BEB9DF9AF367}"/>
              </a:ext>
            </a:extLst>
          </p:cNvPr>
          <p:cNvGrpSpPr/>
          <p:nvPr/>
        </p:nvGrpSpPr>
        <p:grpSpPr>
          <a:xfrm>
            <a:off x="0" y="3370199"/>
            <a:ext cx="6765924" cy="11347348"/>
            <a:chOff x="0" y="3370199"/>
            <a:chExt cx="6765924" cy="11347348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AA2E28A8-7089-0B13-7937-4FBAAF19A8A8}"/>
                </a:ext>
              </a:extLst>
            </p:cNvPr>
            <p:cNvSpPr/>
            <p:nvPr/>
          </p:nvSpPr>
          <p:spPr>
            <a:xfrm>
              <a:off x="0" y="3370199"/>
              <a:ext cx="6765924" cy="11347348"/>
            </a:xfrm>
            <a:prstGeom prst="roundRect">
              <a:avLst>
                <a:gd name="adj" fmla="val 3630"/>
              </a:avLst>
            </a:prstGeom>
            <a:solidFill>
              <a:srgbClr val="FDFDFD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任意多边形: 形状 48">
              <a:extLst>
                <a:ext uri="{FF2B5EF4-FFF2-40B4-BE49-F238E27FC236}">
                  <a16:creationId xmlns:a16="http://schemas.microsoft.com/office/drawing/2014/main" id="{1AEC1EA1-F846-7564-152D-1F7B5A0BB8FB}"/>
                </a:ext>
              </a:extLst>
            </p:cNvPr>
            <p:cNvSpPr/>
            <p:nvPr/>
          </p:nvSpPr>
          <p:spPr>
            <a:xfrm>
              <a:off x="0" y="3373350"/>
              <a:ext cx="6765924" cy="981923"/>
            </a:xfrm>
            <a:custGeom>
              <a:avLst/>
              <a:gdLst>
                <a:gd name="csX0" fmla="*/ 245603 w 6765924"/>
                <a:gd name="csY0" fmla="*/ 0 h 981923"/>
                <a:gd name="csX1" fmla="*/ 6520321 w 6765924"/>
                <a:gd name="csY1" fmla="*/ 0 h 981923"/>
                <a:gd name="csX2" fmla="*/ 6765924 w 6765924"/>
                <a:gd name="csY2" fmla="*/ 245604 h 981923"/>
                <a:gd name="csX3" fmla="*/ 6765924 w 6765924"/>
                <a:gd name="csY3" fmla="*/ 981923 h 981923"/>
                <a:gd name="csX4" fmla="*/ 0 w 6765924"/>
                <a:gd name="csY4" fmla="*/ 981923 h 981923"/>
                <a:gd name="csX5" fmla="*/ 0 w 6765924"/>
                <a:gd name="csY5" fmla="*/ 245604 h 981923"/>
                <a:gd name="csX6" fmla="*/ 245603 w 6765924"/>
                <a:gd name="csY6" fmla="*/ 0 h 9819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765924" h="981923">
                  <a:moveTo>
                    <a:pt x="245603" y="0"/>
                  </a:moveTo>
                  <a:lnTo>
                    <a:pt x="6520321" y="0"/>
                  </a:lnTo>
                  <a:cubicBezTo>
                    <a:pt x="6655964" y="0"/>
                    <a:pt x="6765924" y="109961"/>
                    <a:pt x="6765924" y="245604"/>
                  </a:cubicBezTo>
                  <a:lnTo>
                    <a:pt x="6765924" y="981923"/>
                  </a:lnTo>
                  <a:lnTo>
                    <a:pt x="0" y="981923"/>
                  </a:lnTo>
                  <a:lnTo>
                    <a:pt x="0" y="245604"/>
                  </a:lnTo>
                  <a:cubicBezTo>
                    <a:pt x="0" y="109961"/>
                    <a:pt x="109960" y="0"/>
                    <a:pt x="245603" y="0"/>
                  </a:cubicBezTo>
                  <a:close/>
                </a:path>
              </a:pathLst>
            </a:custGeom>
            <a:solidFill>
              <a:srgbClr val="10263B"/>
            </a:solidFill>
            <a:ln w="28575">
              <a:solidFill>
                <a:srgbClr val="1026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4400" dirty="0">
                  <a:latin typeface="Roboto Condensed ExtraBold" panose="02000000000000000000" pitchFamily="2" charset="0"/>
                  <a:ea typeface="Roboto Condensed ExtraBold" panose="02000000000000000000" pitchFamily="2" charset="0"/>
                </a:rPr>
                <a:t>Motivation</a:t>
              </a:r>
              <a:endParaRPr lang="zh-CN" altLang="en-US" sz="4400" dirty="0">
                <a:latin typeface="Roboto Condensed ExtraBold" panose="02000000000000000000" pitchFamily="2" charset="0"/>
              </a:endParaRPr>
            </a:p>
          </p:txBody>
        </p:sp>
      </p:grpSp>
      <p:grpSp>
        <p:nvGrpSpPr>
          <p:cNvPr id="1036" name="组合 1035">
            <a:extLst>
              <a:ext uri="{FF2B5EF4-FFF2-40B4-BE49-F238E27FC236}">
                <a16:creationId xmlns:a16="http://schemas.microsoft.com/office/drawing/2014/main" id="{1C882D35-E664-FD6B-777C-7CDDABC8E40B}"/>
              </a:ext>
            </a:extLst>
          </p:cNvPr>
          <p:cNvGrpSpPr/>
          <p:nvPr/>
        </p:nvGrpSpPr>
        <p:grpSpPr>
          <a:xfrm>
            <a:off x="7176049" y="3370198"/>
            <a:ext cx="14220276" cy="11347348"/>
            <a:chOff x="7176049" y="3370198"/>
            <a:chExt cx="14220276" cy="11347348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B390AFE6-630F-DFE8-0638-CE83C432012F}"/>
                </a:ext>
              </a:extLst>
            </p:cNvPr>
            <p:cNvSpPr/>
            <p:nvPr/>
          </p:nvSpPr>
          <p:spPr>
            <a:xfrm>
              <a:off x="7176052" y="3370198"/>
              <a:ext cx="14220273" cy="11347348"/>
            </a:xfrm>
            <a:prstGeom prst="roundRect">
              <a:avLst>
                <a:gd name="adj" fmla="val 3630"/>
              </a:avLst>
            </a:prstGeom>
            <a:solidFill>
              <a:srgbClr val="FDFDFD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任意多边形: 形状 52">
              <a:extLst>
                <a:ext uri="{FF2B5EF4-FFF2-40B4-BE49-F238E27FC236}">
                  <a16:creationId xmlns:a16="http://schemas.microsoft.com/office/drawing/2014/main" id="{7253CB80-86CD-1A09-7FD9-97655DCAF94D}"/>
                </a:ext>
              </a:extLst>
            </p:cNvPr>
            <p:cNvSpPr/>
            <p:nvPr/>
          </p:nvSpPr>
          <p:spPr>
            <a:xfrm>
              <a:off x="7176049" y="3373350"/>
              <a:ext cx="14220272" cy="981922"/>
            </a:xfrm>
            <a:custGeom>
              <a:avLst/>
              <a:gdLst>
                <a:gd name="csX0" fmla="*/ 411909 w 14220272"/>
                <a:gd name="csY0" fmla="*/ 0 h 981922"/>
                <a:gd name="csX1" fmla="*/ 13808364 w 14220272"/>
                <a:gd name="csY1" fmla="*/ 0 h 981922"/>
                <a:gd name="csX2" fmla="*/ 14220272 w 14220272"/>
                <a:gd name="csY2" fmla="*/ 411909 h 981922"/>
                <a:gd name="csX3" fmla="*/ 14220272 w 14220272"/>
                <a:gd name="csY3" fmla="*/ 981922 h 981922"/>
                <a:gd name="csX4" fmla="*/ 0 w 14220272"/>
                <a:gd name="csY4" fmla="*/ 981922 h 981922"/>
                <a:gd name="csX5" fmla="*/ 0 w 14220272"/>
                <a:gd name="csY5" fmla="*/ 411909 h 981922"/>
                <a:gd name="csX6" fmla="*/ 411909 w 14220272"/>
                <a:gd name="csY6" fmla="*/ 0 h 9819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4220272" h="981922">
                  <a:moveTo>
                    <a:pt x="411909" y="0"/>
                  </a:moveTo>
                  <a:lnTo>
                    <a:pt x="13808364" y="0"/>
                  </a:lnTo>
                  <a:cubicBezTo>
                    <a:pt x="14035856" y="0"/>
                    <a:pt x="14220272" y="184418"/>
                    <a:pt x="14220272" y="411909"/>
                  </a:cubicBezTo>
                  <a:lnTo>
                    <a:pt x="14220272" y="981922"/>
                  </a:lnTo>
                  <a:lnTo>
                    <a:pt x="0" y="981922"/>
                  </a:lnTo>
                  <a:lnTo>
                    <a:pt x="0" y="411909"/>
                  </a:lnTo>
                  <a:cubicBezTo>
                    <a:pt x="0" y="184418"/>
                    <a:pt x="184419" y="0"/>
                    <a:pt x="411909" y="0"/>
                  </a:cubicBezTo>
                  <a:close/>
                </a:path>
              </a:pathLst>
            </a:custGeom>
            <a:solidFill>
              <a:srgbClr val="10263B"/>
            </a:solidFill>
            <a:ln w="28575">
              <a:solidFill>
                <a:srgbClr val="1026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4400" dirty="0">
                  <a:latin typeface="Roboto Condensed ExtraBold" panose="02000000000000000000" pitchFamily="2" charset="0"/>
                  <a:ea typeface="Roboto Condensed ExtraBold" panose="02000000000000000000" pitchFamily="2" charset="0"/>
                </a:rPr>
                <a:t>Method Overview</a:t>
              </a:r>
              <a:endParaRPr lang="zh-CN" altLang="en-US" sz="4400" dirty="0">
                <a:latin typeface="Roboto Condensed ExtraBold" panose="02000000000000000000" pitchFamily="2" charset="0"/>
              </a:endParaRPr>
            </a:p>
          </p:txBody>
        </p:sp>
      </p:grp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F7F2A1FF-A9FA-A751-F116-BA10A3D44A54}"/>
              </a:ext>
            </a:extLst>
          </p:cNvPr>
          <p:cNvSpPr/>
          <p:nvPr/>
        </p:nvSpPr>
        <p:spPr>
          <a:xfrm>
            <a:off x="0" y="-2"/>
            <a:ext cx="7176052" cy="3102195"/>
          </a:xfrm>
          <a:custGeom>
            <a:avLst/>
            <a:gdLst>
              <a:gd name="csX0" fmla="*/ 0 w 7018095"/>
              <a:gd name="csY0" fmla="*/ 0 h 2569030"/>
              <a:gd name="csX1" fmla="*/ 2969064 w 7018095"/>
              <a:gd name="csY1" fmla="*/ 0 h 2569030"/>
              <a:gd name="csX2" fmla="*/ 2969064 w 7018095"/>
              <a:gd name="csY2" fmla="*/ 1 h 2569030"/>
              <a:gd name="csX3" fmla="*/ 7018095 w 7018095"/>
              <a:gd name="csY3" fmla="*/ 1 h 2569030"/>
              <a:gd name="csX4" fmla="*/ 6347474 w 7018095"/>
              <a:gd name="csY4" fmla="*/ 2165582 h 2569030"/>
              <a:gd name="csX5" fmla="*/ 6345860 w 7018095"/>
              <a:gd name="csY5" fmla="*/ 2165082 h 2569030"/>
              <a:gd name="csX6" fmla="*/ 6327915 w 7018095"/>
              <a:gd name="csY6" fmla="*/ 2222892 h 2569030"/>
              <a:gd name="csX7" fmla="*/ 5805714 w 7018095"/>
              <a:gd name="csY7" fmla="*/ 2569030 h 2569030"/>
              <a:gd name="csX8" fmla="*/ 5805704 w 7018095"/>
              <a:gd name="csY8" fmla="*/ 2569029 h 2569030"/>
              <a:gd name="csX9" fmla="*/ 0 w 7018095"/>
              <a:gd name="csY9" fmla="*/ 2569029 h 2569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7018095" h="2569030">
                <a:moveTo>
                  <a:pt x="0" y="0"/>
                </a:moveTo>
                <a:lnTo>
                  <a:pt x="2969064" y="0"/>
                </a:lnTo>
                <a:lnTo>
                  <a:pt x="2969064" y="1"/>
                </a:lnTo>
                <a:lnTo>
                  <a:pt x="7018095" y="1"/>
                </a:lnTo>
                <a:lnTo>
                  <a:pt x="6347474" y="2165582"/>
                </a:lnTo>
                <a:lnTo>
                  <a:pt x="6345860" y="2165082"/>
                </a:lnTo>
                <a:lnTo>
                  <a:pt x="6327915" y="2222892"/>
                </a:lnTo>
                <a:cubicBezTo>
                  <a:pt x="6241880" y="2426303"/>
                  <a:pt x="6040465" y="2569030"/>
                  <a:pt x="5805714" y="2569030"/>
                </a:cubicBezTo>
                <a:lnTo>
                  <a:pt x="5805704" y="2569029"/>
                </a:lnTo>
                <a:lnTo>
                  <a:pt x="0" y="2569029"/>
                </a:lnTo>
                <a:close/>
              </a:path>
            </a:pathLst>
          </a:custGeom>
          <a:solidFill>
            <a:srgbClr val="1026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6AA891-E97B-4896-8426-F3DB06F0987C}"/>
              </a:ext>
            </a:extLst>
          </p:cNvPr>
          <p:cNvSpPr/>
          <p:nvPr/>
        </p:nvSpPr>
        <p:spPr>
          <a:xfrm>
            <a:off x="0" y="29313168"/>
            <a:ext cx="21396325" cy="965886"/>
          </a:xfrm>
          <a:prstGeom prst="rect">
            <a:avLst/>
          </a:prstGeom>
          <a:solidFill>
            <a:srgbClr val="1026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383278-A505-4022-A9A1-F7F4ADC3830A}"/>
              </a:ext>
            </a:extLst>
          </p:cNvPr>
          <p:cNvSpPr txBox="1"/>
          <p:nvPr/>
        </p:nvSpPr>
        <p:spPr>
          <a:xfrm>
            <a:off x="9720000" y="29313168"/>
            <a:ext cx="11433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00" b="1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Yiyang Guo  (Student ID: 20719106)</a:t>
            </a:r>
          </a:p>
          <a:p>
            <a:pPr algn="r"/>
            <a:r>
              <a:rPr lang="en-US" altLang="zh-CN" sz="2800" b="1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Supervisor: Tianxing Cui</a:t>
            </a: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BF82784A-DEF4-F56C-27DE-044E03E31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6626" y="-2"/>
            <a:ext cx="14109700" cy="2982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algn="ctr" defTabSz="91440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800" b="1" dirty="0">
                <a:solidFill>
                  <a:srgbClr val="10263B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  <a:cs typeface="Sans Serif Collection" panose="020B0502040504020204" pitchFamily="34" charset="0"/>
              </a:rPr>
              <a:t>12.6% Fewer Vehicles, Zero Regressions:</a:t>
            </a:r>
            <a:endParaRPr lang="en-US" altLang="zh-CN" sz="3200" b="1" dirty="0">
              <a:solidFill>
                <a:srgbClr val="10263B"/>
              </a:solidFill>
              <a:latin typeface="Roboto Condensed ExtraBold" panose="02000000000000000000" pitchFamily="2" charset="0"/>
              <a:ea typeface="Roboto Condensed ExtraBold" panose="02000000000000000000" pitchFamily="2" charset="0"/>
              <a:cs typeface="Sans Serif Collection" panose="020B0502040504020204" pitchFamily="34" charset="0"/>
            </a:endParaRPr>
          </a:p>
          <a:p>
            <a:pPr algn="ctr" defTabSz="91440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800" b="1" dirty="0">
                <a:solidFill>
                  <a:srgbClr val="10263B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  <a:cs typeface="Sans Serif Collection" panose="020B0502040504020204" pitchFamily="34" charset="0"/>
              </a:rPr>
              <a:t>An Audit-First ALNS for Electric-Vehicle Routing</a:t>
            </a:r>
            <a:endParaRPr lang="en-US" altLang="zh-CN" sz="3200" b="1" dirty="0">
              <a:solidFill>
                <a:srgbClr val="10263B"/>
              </a:solidFill>
              <a:latin typeface="Roboto Condensed ExtraBold" panose="02000000000000000000" pitchFamily="2" charset="0"/>
              <a:ea typeface="Roboto Condensed ExtraBold" panose="02000000000000000000" pitchFamily="2" charset="0"/>
              <a:cs typeface="Sans Serif Collection" panose="020B0502040504020204" pitchFamily="34" charset="0"/>
            </a:endParaRPr>
          </a:p>
          <a:p>
            <a:pPr algn="ctr" defTabSz="91440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10263B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  <a:cs typeface="Sans Serif Collection" panose="020B0502040504020204" pitchFamily="34" charset="0"/>
              </a:rPr>
              <a:t>Yiyang Guo  |  Department of Mathematical Sciences</a:t>
            </a:r>
            <a:endParaRPr lang="en-US" altLang="en-US" sz="3200" b="1" dirty="0">
              <a:solidFill>
                <a:srgbClr val="10263B"/>
              </a:solidFill>
              <a:latin typeface="Roboto Condensed ExtraBold" panose="02000000000000000000" pitchFamily="2" charset="0"/>
              <a:ea typeface="Roboto Condensed ExtraBold" panose="02000000000000000000" pitchFamily="2" charset="0"/>
              <a:cs typeface="Sans Serif Collection" panose="020B0502040504020204" pitchFamily="34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FAE15DB-3325-98E6-8CB7-2761ECBF80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87" y="317500"/>
            <a:ext cx="5274799" cy="1948620"/>
          </a:xfrm>
          <a:prstGeom prst="rect">
            <a:avLst/>
          </a:prstGeom>
        </p:spPr>
      </p:pic>
      <p:grpSp>
        <p:nvGrpSpPr>
          <p:cNvPr id="1033" name="组合 1032">
            <a:extLst>
              <a:ext uri="{FF2B5EF4-FFF2-40B4-BE49-F238E27FC236}">
                <a16:creationId xmlns:a16="http://schemas.microsoft.com/office/drawing/2014/main" id="{1788C27E-810F-F0C3-A767-37A970C4A182}"/>
              </a:ext>
            </a:extLst>
          </p:cNvPr>
          <p:cNvGrpSpPr/>
          <p:nvPr/>
        </p:nvGrpSpPr>
        <p:grpSpPr>
          <a:xfrm>
            <a:off x="-3" y="21536605"/>
            <a:ext cx="8786192" cy="6091615"/>
            <a:chOff x="-2" y="21536605"/>
            <a:chExt cx="8786192" cy="6091615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C2A5B8DA-DA4A-B4E4-DFC1-3AB0B57937C3}"/>
                </a:ext>
              </a:extLst>
            </p:cNvPr>
            <p:cNvSpPr/>
            <p:nvPr/>
          </p:nvSpPr>
          <p:spPr>
            <a:xfrm>
              <a:off x="-2" y="21538315"/>
              <a:ext cx="8786191" cy="6089905"/>
            </a:xfrm>
            <a:prstGeom prst="roundRect">
              <a:avLst>
                <a:gd name="adj" fmla="val 6764"/>
              </a:avLst>
            </a:prstGeom>
            <a:solidFill>
              <a:srgbClr val="FDFDFD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任意多边形: 形状 56">
              <a:extLst>
                <a:ext uri="{FF2B5EF4-FFF2-40B4-BE49-F238E27FC236}">
                  <a16:creationId xmlns:a16="http://schemas.microsoft.com/office/drawing/2014/main" id="{066DD98C-C325-09A2-366C-DDAB64128C08}"/>
                </a:ext>
              </a:extLst>
            </p:cNvPr>
            <p:cNvSpPr/>
            <p:nvPr/>
          </p:nvSpPr>
          <p:spPr>
            <a:xfrm>
              <a:off x="0" y="21536605"/>
              <a:ext cx="8786190" cy="957502"/>
            </a:xfrm>
            <a:custGeom>
              <a:avLst/>
              <a:gdLst>
                <a:gd name="csX0" fmla="*/ 411920 w 8786190"/>
                <a:gd name="csY0" fmla="*/ 0 h 957502"/>
                <a:gd name="csX1" fmla="*/ 8374269 w 8786190"/>
                <a:gd name="csY1" fmla="*/ 0 h 957502"/>
                <a:gd name="csX2" fmla="*/ 8786190 w 8786190"/>
                <a:gd name="csY2" fmla="*/ 411920 h 957502"/>
                <a:gd name="csX3" fmla="*/ 8786190 w 8786190"/>
                <a:gd name="csY3" fmla="*/ 957502 h 957502"/>
                <a:gd name="csX4" fmla="*/ 0 w 8786190"/>
                <a:gd name="csY4" fmla="*/ 957502 h 957502"/>
                <a:gd name="csX5" fmla="*/ 0 w 8786190"/>
                <a:gd name="csY5" fmla="*/ 411920 h 957502"/>
                <a:gd name="csX6" fmla="*/ 411920 w 8786190"/>
                <a:gd name="csY6" fmla="*/ 0 h 9575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786190" h="957502">
                  <a:moveTo>
                    <a:pt x="411920" y="0"/>
                  </a:moveTo>
                  <a:lnTo>
                    <a:pt x="8374269" y="0"/>
                  </a:lnTo>
                  <a:cubicBezTo>
                    <a:pt x="8601767" y="0"/>
                    <a:pt x="8786190" y="184422"/>
                    <a:pt x="8786190" y="411920"/>
                  </a:cubicBezTo>
                  <a:lnTo>
                    <a:pt x="8786190" y="957502"/>
                  </a:lnTo>
                  <a:lnTo>
                    <a:pt x="0" y="957502"/>
                  </a:lnTo>
                  <a:lnTo>
                    <a:pt x="0" y="411920"/>
                  </a:lnTo>
                  <a:cubicBezTo>
                    <a:pt x="0" y="184422"/>
                    <a:pt x="184422" y="0"/>
                    <a:pt x="411920" y="0"/>
                  </a:cubicBezTo>
                  <a:close/>
                </a:path>
              </a:pathLst>
            </a:custGeom>
            <a:solidFill>
              <a:srgbClr val="10263B"/>
            </a:solidFill>
            <a:ln w="28575">
              <a:solidFill>
                <a:srgbClr val="1026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4400" dirty="0">
                  <a:latin typeface="Roboto Condensed ExtraBold" panose="02000000000000000000" pitchFamily="2" charset="0"/>
                  <a:ea typeface="Roboto Condensed ExtraBold" panose="02000000000000000000" pitchFamily="2" charset="0"/>
                </a:rPr>
                <a:t>Key Quantitative Highlights</a:t>
              </a:r>
              <a:endParaRPr lang="zh-CN" altLang="en-US" sz="4400" dirty="0">
                <a:latin typeface="Roboto Condensed ExtraBold" panose="02000000000000000000" pitchFamily="2" charset="0"/>
              </a:endParaRPr>
            </a:p>
          </p:txBody>
        </p:sp>
      </p:grpSp>
      <p:grpSp>
        <p:nvGrpSpPr>
          <p:cNvPr id="1034" name="组合 1033">
            <a:extLst>
              <a:ext uri="{FF2B5EF4-FFF2-40B4-BE49-F238E27FC236}">
                <a16:creationId xmlns:a16="http://schemas.microsoft.com/office/drawing/2014/main" id="{EAE5C044-C893-AA2D-B89D-5F08DACD38CF}"/>
              </a:ext>
            </a:extLst>
          </p:cNvPr>
          <p:cNvGrpSpPr/>
          <p:nvPr/>
        </p:nvGrpSpPr>
        <p:grpSpPr>
          <a:xfrm>
            <a:off x="-4" y="15081695"/>
            <a:ext cx="8786192" cy="6091187"/>
            <a:chOff x="-4" y="15081695"/>
            <a:chExt cx="8786192" cy="6091187"/>
          </a:xfrm>
        </p:grpSpPr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2298F111-4FAE-B3F9-B8B0-025B1DC98A7C}"/>
                </a:ext>
              </a:extLst>
            </p:cNvPr>
            <p:cNvSpPr/>
            <p:nvPr/>
          </p:nvSpPr>
          <p:spPr>
            <a:xfrm>
              <a:off x="-3" y="15082977"/>
              <a:ext cx="8786191" cy="6089905"/>
            </a:xfrm>
            <a:prstGeom prst="roundRect">
              <a:avLst>
                <a:gd name="adj" fmla="val 6764"/>
              </a:avLst>
            </a:prstGeom>
            <a:solidFill>
              <a:srgbClr val="FDFDFD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: 形状 57">
              <a:extLst>
                <a:ext uri="{FF2B5EF4-FFF2-40B4-BE49-F238E27FC236}">
                  <a16:creationId xmlns:a16="http://schemas.microsoft.com/office/drawing/2014/main" id="{BA9FB842-3D07-7E99-ACC3-86FC7177BD6E}"/>
                </a:ext>
              </a:extLst>
            </p:cNvPr>
            <p:cNvSpPr/>
            <p:nvPr/>
          </p:nvSpPr>
          <p:spPr>
            <a:xfrm>
              <a:off x="-4" y="15081695"/>
              <a:ext cx="8786190" cy="957502"/>
            </a:xfrm>
            <a:custGeom>
              <a:avLst/>
              <a:gdLst>
                <a:gd name="csX0" fmla="*/ 411920 w 8786190"/>
                <a:gd name="csY0" fmla="*/ 0 h 957502"/>
                <a:gd name="csX1" fmla="*/ 8374269 w 8786190"/>
                <a:gd name="csY1" fmla="*/ 0 h 957502"/>
                <a:gd name="csX2" fmla="*/ 8786190 w 8786190"/>
                <a:gd name="csY2" fmla="*/ 411920 h 957502"/>
                <a:gd name="csX3" fmla="*/ 8786190 w 8786190"/>
                <a:gd name="csY3" fmla="*/ 957502 h 957502"/>
                <a:gd name="csX4" fmla="*/ 0 w 8786190"/>
                <a:gd name="csY4" fmla="*/ 957502 h 957502"/>
                <a:gd name="csX5" fmla="*/ 0 w 8786190"/>
                <a:gd name="csY5" fmla="*/ 411920 h 957502"/>
                <a:gd name="csX6" fmla="*/ 411920 w 8786190"/>
                <a:gd name="csY6" fmla="*/ 0 h 9575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786190" h="957502">
                  <a:moveTo>
                    <a:pt x="411920" y="0"/>
                  </a:moveTo>
                  <a:lnTo>
                    <a:pt x="8374269" y="0"/>
                  </a:lnTo>
                  <a:cubicBezTo>
                    <a:pt x="8601767" y="0"/>
                    <a:pt x="8786190" y="184422"/>
                    <a:pt x="8786190" y="411920"/>
                  </a:cubicBezTo>
                  <a:lnTo>
                    <a:pt x="8786190" y="957502"/>
                  </a:lnTo>
                  <a:lnTo>
                    <a:pt x="0" y="957502"/>
                  </a:lnTo>
                  <a:lnTo>
                    <a:pt x="0" y="411920"/>
                  </a:lnTo>
                  <a:cubicBezTo>
                    <a:pt x="0" y="184422"/>
                    <a:pt x="184422" y="0"/>
                    <a:pt x="411920" y="0"/>
                  </a:cubicBezTo>
                  <a:close/>
                </a:path>
              </a:pathLst>
            </a:custGeom>
            <a:solidFill>
              <a:srgbClr val="10263B"/>
            </a:solidFill>
            <a:ln w="28575">
              <a:solidFill>
                <a:srgbClr val="1026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4400" dirty="0">
                  <a:latin typeface="Roboto Condensed ExtraBold" panose="02000000000000000000" pitchFamily="2" charset="0"/>
                  <a:ea typeface="Roboto Condensed ExtraBold" panose="02000000000000000000" pitchFamily="2" charset="0"/>
                </a:rPr>
                <a:t>Experimental Settings</a:t>
              </a:r>
              <a:endParaRPr lang="zh-CN" altLang="en-US" sz="4400" dirty="0">
                <a:latin typeface="Roboto Condensed ExtraBold" panose="02000000000000000000" pitchFamily="2" charset="0"/>
              </a:endParaRPr>
            </a:p>
          </p:txBody>
        </p:sp>
      </p:grpSp>
      <p:grpSp>
        <p:nvGrpSpPr>
          <p:cNvPr id="1035" name="组合 1034">
            <a:extLst>
              <a:ext uri="{FF2B5EF4-FFF2-40B4-BE49-F238E27FC236}">
                <a16:creationId xmlns:a16="http://schemas.microsoft.com/office/drawing/2014/main" id="{F592CA8C-A4AB-5A91-F8A2-47454D657F92}"/>
              </a:ext>
            </a:extLst>
          </p:cNvPr>
          <p:cNvGrpSpPr/>
          <p:nvPr/>
        </p:nvGrpSpPr>
        <p:grpSpPr>
          <a:xfrm>
            <a:off x="9236763" y="15080842"/>
            <a:ext cx="12159562" cy="6092040"/>
            <a:chOff x="9236763" y="15080842"/>
            <a:chExt cx="12159562" cy="6092040"/>
          </a:xfrm>
        </p:grpSpPr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3D846035-0CD1-9C48-22F8-D0ECA51804F9}"/>
                </a:ext>
              </a:extLst>
            </p:cNvPr>
            <p:cNvSpPr/>
            <p:nvPr/>
          </p:nvSpPr>
          <p:spPr>
            <a:xfrm>
              <a:off x="9236763" y="15082977"/>
              <a:ext cx="12159561" cy="6089905"/>
            </a:xfrm>
            <a:prstGeom prst="roundRect">
              <a:avLst>
                <a:gd name="adj" fmla="val 6764"/>
              </a:avLst>
            </a:prstGeom>
            <a:solidFill>
              <a:srgbClr val="FDFDFD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AEC9B701-BC87-BBD5-DC53-EB1A56A89F59}"/>
                </a:ext>
              </a:extLst>
            </p:cNvPr>
            <p:cNvSpPr/>
            <p:nvPr/>
          </p:nvSpPr>
          <p:spPr>
            <a:xfrm>
              <a:off x="9236764" y="15080842"/>
              <a:ext cx="12159561" cy="958355"/>
            </a:xfrm>
            <a:custGeom>
              <a:avLst/>
              <a:gdLst>
                <a:gd name="csX0" fmla="*/ 411921 w 12159561"/>
                <a:gd name="csY0" fmla="*/ 0 h 958355"/>
                <a:gd name="csX1" fmla="*/ 11747640 w 12159561"/>
                <a:gd name="csY1" fmla="*/ 0 h 958355"/>
                <a:gd name="csX2" fmla="*/ 12159561 w 12159561"/>
                <a:gd name="csY2" fmla="*/ 411921 h 958355"/>
                <a:gd name="csX3" fmla="*/ 12159561 w 12159561"/>
                <a:gd name="csY3" fmla="*/ 958355 h 958355"/>
                <a:gd name="csX4" fmla="*/ 0 w 12159561"/>
                <a:gd name="csY4" fmla="*/ 958355 h 958355"/>
                <a:gd name="csX5" fmla="*/ 0 w 12159561"/>
                <a:gd name="csY5" fmla="*/ 411921 h 958355"/>
                <a:gd name="csX6" fmla="*/ 411921 w 12159561"/>
                <a:gd name="csY6" fmla="*/ 0 h 9583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159561" h="958355">
                  <a:moveTo>
                    <a:pt x="411921" y="0"/>
                  </a:moveTo>
                  <a:lnTo>
                    <a:pt x="11747640" y="0"/>
                  </a:lnTo>
                  <a:cubicBezTo>
                    <a:pt x="11975138" y="0"/>
                    <a:pt x="12159561" y="184423"/>
                    <a:pt x="12159561" y="411921"/>
                  </a:cubicBezTo>
                  <a:lnTo>
                    <a:pt x="12159561" y="958355"/>
                  </a:lnTo>
                  <a:lnTo>
                    <a:pt x="0" y="958355"/>
                  </a:lnTo>
                  <a:lnTo>
                    <a:pt x="0" y="411921"/>
                  </a:lnTo>
                  <a:cubicBezTo>
                    <a:pt x="0" y="184423"/>
                    <a:pt x="184423" y="0"/>
                    <a:pt x="411921" y="0"/>
                  </a:cubicBezTo>
                  <a:close/>
                </a:path>
              </a:pathLst>
            </a:custGeom>
            <a:solidFill>
              <a:srgbClr val="10263B"/>
            </a:solidFill>
            <a:ln w="28575">
              <a:solidFill>
                <a:srgbClr val="1026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4400" dirty="0">
                  <a:latin typeface="Roboto Condensed ExtraBold" panose="02000000000000000000" pitchFamily="2" charset="0"/>
                  <a:ea typeface="Roboto Condensed ExtraBold" panose="02000000000000000000" pitchFamily="2" charset="0"/>
                </a:rPr>
                <a:t>Key Results</a:t>
              </a:r>
              <a:endParaRPr lang="zh-CN" altLang="en-US" sz="4400" dirty="0">
                <a:latin typeface="Roboto Condensed ExtraBold" panose="02000000000000000000" pitchFamily="2" charset="0"/>
              </a:endParaRPr>
            </a:p>
          </p:txBody>
        </p:sp>
      </p:grpSp>
      <p:grpSp>
        <p:nvGrpSpPr>
          <p:cNvPr id="1055" name="组合 1054">
            <a:extLst>
              <a:ext uri="{FF2B5EF4-FFF2-40B4-BE49-F238E27FC236}">
                <a16:creationId xmlns:a16="http://schemas.microsoft.com/office/drawing/2014/main" id="{C210CF04-CB5F-C488-4F2F-85D16B3CE0AB}"/>
              </a:ext>
            </a:extLst>
          </p:cNvPr>
          <p:cNvGrpSpPr/>
          <p:nvPr/>
        </p:nvGrpSpPr>
        <p:grpSpPr>
          <a:xfrm>
            <a:off x="184369" y="4451071"/>
            <a:ext cx="6392410" cy="1074023"/>
            <a:chOff x="184369" y="4477812"/>
            <a:chExt cx="6392410" cy="1074023"/>
          </a:xfrm>
        </p:grpSpPr>
        <p:grpSp>
          <p:nvGrpSpPr>
            <p:cNvPr id="1052" name="组合 1051">
              <a:extLst>
                <a:ext uri="{FF2B5EF4-FFF2-40B4-BE49-F238E27FC236}">
                  <a16:creationId xmlns:a16="http://schemas.microsoft.com/office/drawing/2014/main" id="{7B8967E1-BA5A-C14B-B250-A0E48E5D8C08}"/>
                </a:ext>
              </a:extLst>
            </p:cNvPr>
            <p:cNvGrpSpPr/>
            <p:nvPr/>
          </p:nvGrpSpPr>
          <p:grpSpPr>
            <a:xfrm>
              <a:off x="184369" y="4477812"/>
              <a:ext cx="1077914" cy="1074023"/>
              <a:chOff x="184369" y="4477812"/>
              <a:chExt cx="1077914" cy="1074023"/>
            </a:xfrm>
          </p:grpSpPr>
          <p:pic>
            <p:nvPicPr>
              <p:cNvPr id="1038" name="Picture 2" descr="Signal - Free miscellaneous icons">
                <a:extLst>
                  <a:ext uri="{FF2B5EF4-FFF2-40B4-BE49-F238E27FC236}">
                    <a16:creationId xmlns:a16="http://schemas.microsoft.com/office/drawing/2014/main" id="{64BB4CDB-AD88-F8CD-9373-5CC54FED72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1028" y="4572525"/>
                <a:ext cx="884596" cy="8845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42" name="椭圆 1041">
                <a:extLst>
                  <a:ext uri="{FF2B5EF4-FFF2-40B4-BE49-F238E27FC236}">
                    <a16:creationId xmlns:a16="http://schemas.microsoft.com/office/drawing/2014/main" id="{68D145EE-7374-E1DA-379F-BAD79D9B93DD}"/>
                  </a:ext>
                </a:extLst>
              </p:cNvPr>
              <p:cNvSpPr/>
              <p:nvPr/>
            </p:nvSpPr>
            <p:spPr>
              <a:xfrm>
                <a:off x="184369" y="4477812"/>
                <a:ext cx="1077914" cy="1074023"/>
              </a:xfrm>
              <a:prstGeom prst="ellipse">
                <a:avLst/>
              </a:prstGeom>
              <a:noFill/>
              <a:ln w="28575">
                <a:solidFill>
                  <a:srgbClr val="2E6CA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44" name="文本框 1043">
              <a:extLst>
                <a:ext uri="{FF2B5EF4-FFF2-40B4-BE49-F238E27FC236}">
                  <a16:creationId xmlns:a16="http://schemas.microsoft.com/office/drawing/2014/main" id="{760E652D-819E-280C-12C5-2E4D782361E1}"/>
                </a:ext>
              </a:extLst>
            </p:cNvPr>
            <p:cNvSpPr txBox="1"/>
            <p:nvPr/>
          </p:nvSpPr>
          <p:spPr>
            <a:xfrm>
              <a:off x="1446652" y="4599325"/>
              <a:ext cx="51301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rgbClr val="10263B"/>
                  </a:solidFill>
                  <a:latin typeface="Roboto Condensed ExtraBold" panose="02000000000000000000" pitchFamily="2" charset="0"/>
                  <a:ea typeface="Roboto Condensed ExtraBold" panose="02000000000000000000" pitchFamily="2" charset="0"/>
                </a:rPr>
                <a:t>E-VRPTW: battery-limited EVs, hard time windows</a:t>
              </a:r>
              <a:endParaRPr lang="zh-CN" altLang="en-US" sz="2400" dirty="0">
                <a:solidFill>
                  <a:srgbClr val="10263B"/>
                </a:solidFill>
                <a:latin typeface="Roboto Condensed ExtraBold" panose="02000000000000000000" pitchFamily="2" charset="0"/>
              </a:endParaRPr>
            </a:p>
          </p:txBody>
        </p:sp>
      </p:grpSp>
      <p:grpSp>
        <p:nvGrpSpPr>
          <p:cNvPr id="1053" name="组合 1052">
            <a:extLst>
              <a:ext uri="{FF2B5EF4-FFF2-40B4-BE49-F238E27FC236}">
                <a16:creationId xmlns:a16="http://schemas.microsoft.com/office/drawing/2014/main" id="{5C81F832-6257-B8DC-FA41-2DB7B1092319}"/>
              </a:ext>
            </a:extLst>
          </p:cNvPr>
          <p:cNvGrpSpPr/>
          <p:nvPr/>
        </p:nvGrpSpPr>
        <p:grpSpPr>
          <a:xfrm>
            <a:off x="180223" y="5680192"/>
            <a:ext cx="1077914" cy="1074023"/>
            <a:chOff x="170648" y="5819841"/>
            <a:chExt cx="1077914" cy="1074023"/>
          </a:xfrm>
        </p:grpSpPr>
        <p:pic>
          <p:nvPicPr>
            <p:cNvPr id="1040" name="Picture 6" descr="Link - Free multimedia icons">
              <a:extLst>
                <a:ext uri="{FF2B5EF4-FFF2-40B4-BE49-F238E27FC236}">
                  <a16:creationId xmlns:a16="http://schemas.microsoft.com/office/drawing/2014/main" id="{075941FD-A748-615D-2DE5-5282BA45ED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8386" y="6075633"/>
              <a:ext cx="562438" cy="5624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46" name="椭圆 1045">
              <a:extLst>
                <a:ext uri="{FF2B5EF4-FFF2-40B4-BE49-F238E27FC236}">
                  <a16:creationId xmlns:a16="http://schemas.microsoft.com/office/drawing/2014/main" id="{58522799-43F5-8E09-F0CC-4DC4AA80E630}"/>
                </a:ext>
              </a:extLst>
            </p:cNvPr>
            <p:cNvSpPr/>
            <p:nvPr/>
          </p:nvSpPr>
          <p:spPr>
            <a:xfrm>
              <a:off x="170648" y="5819841"/>
              <a:ext cx="1077914" cy="1074023"/>
            </a:xfrm>
            <a:prstGeom prst="ellipse">
              <a:avLst/>
            </a:prstGeom>
            <a:noFill/>
            <a:ln w="28575">
              <a:solidFill>
                <a:srgbClr val="2E6CA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8DF31AC8-F286-1481-7855-58E3B054216A}"/>
              </a:ext>
            </a:extLst>
          </p:cNvPr>
          <p:cNvSpPr txBox="1"/>
          <p:nvPr/>
        </p:nvSpPr>
        <p:spPr>
          <a:xfrm>
            <a:off x="1456227" y="5801705"/>
            <a:ext cx="5130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10263B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Fleet size first in the lexicographic objective</a:t>
            </a:r>
            <a:endParaRPr lang="zh-CN" altLang="en-US" sz="2400" dirty="0">
              <a:solidFill>
                <a:srgbClr val="10263B"/>
              </a:solidFill>
              <a:latin typeface="Roboto Condensed ExtraBold" panose="02000000000000000000" pitchFamily="2" charset="0"/>
            </a:endParaRPr>
          </a:p>
        </p:txBody>
      </p:sp>
      <p:sp>
        <p:nvSpPr>
          <p:cNvPr id="1048" name="文本框 1047">
            <a:extLst>
              <a:ext uri="{FF2B5EF4-FFF2-40B4-BE49-F238E27FC236}">
                <a16:creationId xmlns:a16="http://schemas.microsoft.com/office/drawing/2014/main" id="{C76C972E-640A-2B4A-38B1-154BD1DC4BD4}"/>
              </a:ext>
            </a:extLst>
          </p:cNvPr>
          <p:cNvSpPr txBox="1"/>
          <p:nvPr/>
        </p:nvSpPr>
        <p:spPr>
          <a:xfrm>
            <a:off x="1446652" y="7044712"/>
            <a:ext cx="5130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10263B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Feasibility hinges on exact charging decisions</a:t>
            </a:r>
            <a:endParaRPr lang="zh-CN" altLang="en-US" sz="2400" dirty="0">
              <a:solidFill>
                <a:srgbClr val="10263B"/>
              </a:solidFill>
              <a:latin typeface="Roboto Condensed ExtraBold" panose="02000000000000000000" pitchFamily="2" charset="0"/>
            </a:endParaRPr>
          </a:p>
        </p:txBody>
      </p:sp>
      <p:grpSp>
        <p:nvGrpSpPr>
          <p:cNvPr id="1051" name="组合 1050">
            <a:extLst>
              <a:ext uri="{FF2B5EF4-FFF2-40B4-BE49-F238E27FC236}">
                <a16:creationId xmlns:a16="http://schemas.microsoft.com/office/drawing/2014/main" id="{76DD2137-E4BA-D3CD-47DA-933CFA4732FA}"/>
              </a:ext>
            </a:extLst>
          </p:cNvPr>
          <p:cNvGrpSpPr/>
          <p:nvPr/>
        </p:nvGrpSpPr>
        <p:grpSpPr>
          <a:xfrm>
            <a:off x="184369" y="6923199"/>
            <a:ext cx="1077914" cy="1074023"/>
            <a:chOff x="184369" y="7070184"/>
            <a:chExt cx="1077914" cy="1074023"/>
          </a:xfrm>
        </p:grpSpPr>
        <p:pic>
          <p:nvPicPr>
            <p:cNvPr id="1041" name="Picture 8" descr="safe Vector Icons free download in SVG, PNG Format">
              <a:extLst>
                <a:ext uri="{FF2B5EF4-FFF2-40B4-BE49-F238E27FC236}">
                  <a16:creationId xmlns:a16="http://schemas.microsoft.com/office/drawing/2014/main" id="{FD7A076B-946E-6CDA-775A-4BA8D0C79D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741" y="7269610"/>
              <a:ext cx="675171" cy="6751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50" name="椭圆 1049">
              <a:extLst>
                <a:ext uri="{FF2B5EF4-FFF2-40B4-BE49-F238E27FC236}">
                  <a16:creationId xmlns:a16="http://schemas.microsoft.com/office/drawing/2014/main" id="{6A73E9A8-24FD-04ED-EBC4-74353BC80BB3}"/>
                </a:ext>
              </a:extLst>
            </p:cNvPr>
            <p:cNvSpPr/>
            <p:nvPr/>
          </p:nvSpPr>
          <p:spPr>
            <a:xfrm>
              <a:off x="184369" y="7070184"/>
              <a:ext cx="1077914" cy="1074023"/>
            </a:xfrm>
            <a:prstGeom prst="ellipse">
              <a:avLst/>
            </a:prstGeom>
            <a:noFill/>
            <a:ln w="28575">
              <a:solidFill>
                <a:srgbClr val="2E6CA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54" name="文本框 1053">
            <a:extLst>
              <a:ext uri="{FF2B5EF4-FFF2-40B4-BE49-F238E27FC236}">
                <a16:creationId xmlns:a16="http://schemas.microsoft.com/office/drawing/2014/main" id="{9C32A861-714B-5C83-FCCF-8FD1DC34B295}"/>
              </a:ext>
            </a:extLst>
          </p:cNvPr>
          <p:cNvSpPr txBox="1"/>
          <p:nvPr/>
        </p:nvSpPr>
        <p:spPr>
          <a:xfrm>
            <a:off x="342000" y="12312000"/>
            <a:ext cx="6301913" cy="461665"/>
          </a:xfrm>
          <a:prstGeom prst="rect">
            <a:avLst/>
          </a:prstGeom>
          <a:noFill/>
        </p:spPr>
        <p:txBody>
          <a:bodyPr wrap="square" rtlCol="0" lIns="0">
            <a:spAutoFit/>
          </a:bodyPr>
          <a:lstStyle/>
          <a:p>
            <a:r>
              <a:rPr lang="en-US" altLang="zh-CN" sz="2000" dirty="0">
                <a:solidFill>
                  <a:srgbClr val="10263B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Objective — reproduce SSG (2014), then cut fleet size with zero regressions</a:t>
            </a:r>
            <a:endParaRPr lang="zh-CN" altLang="en-US" sz="2400" dirty="0">
              <a:solidFill>
                <a:srgbClr val="10263B"/>
              </a:solidFill>
              <a:latin typeface="Roboto Condensed ExtraBold" panose="02000000000000000000" pitchFamily="2" charset="0"/>
            </a:endParaRPr>
          </a:p>
        </p:txBody>
      </p:sp>
      <p:sp>
        <p:nvSpPr>
          <p:cNvPr id="1119" name="矩形: 圆角 1118">
            <a:extLst>
              <a:ext uri="{FF2B5EF4-FFF2-40B4-BE49-F238E27FC236}">
                <a16:creationId xmlns:a16="http://schemas.microsoft.com/office/drawing/2014/main" id="{1389F642-39A3-ABE1-1F71-5152FD460CFA}"/>
              </a:ext>
            </a:extLst>
          </p:cNvPr>
          <p:cNvSpPr/>
          <p:nvPr/>
        </p:nvSpPr>
        <p:spPr>
          <a:xfrm>
            <a:off x="-1" y="27811245"/>
            <a:ext cx="21377275" cy="1376816"/>
          </a:xfrm>
          <a:prstGeom prst="roundRect">
            <a:avLst>
              <a:gd name="adj" fmla="val 6764"/>
            </a:avLst>
          </a:prstGeom>
          <a:solidFill>
            <a:srgbClr val="EFF5FD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132" name="组合 1131">
            <a:extLst>
              <a:ext uri="{FF2B5EF4-FFF2-40B4-BE49-F238E27FC236}">
                <a16:creationId xmlns:a16="http://schemas.microsoft.com/office/drawing/2014/main" id="{40706014-CEEB-DC7B-5B66-996DF9A8C2A8}"/>
              </a:ext>
            </a:extLst>
          </p:cNvPr>
          <p:cNvGrpSpPr/>
          <p:nvPr/>
        </p:nvGrpSpPr>
        <p:grpSpPr>
          <a:xfrm>
            <a:off x="170509" y="27909457"/>
            <a:ext cx="6070936" cy="1208007"/>
            <a:chOff x="520409" y="27924463"/>
            <a:chExt cx="6070936" cy="1208007"/>
          </a:xfrm>
        </p:grpSpPr>
        <p:pic>
          <p:nvPicPr>
            <p:cNvPr id="1122" name="Picture 8" descr="safe Vector Icons free download in SVG, PNG Format">
              <a:extLst>
                <a:ext uri="{FF2B5EF4-FFF2-40B4-BE49-F238E27FC236}">
                  <a16:creationId xmlns:a16="http://schemas.microsoft.com/office/drawing/2014/main" id="{DA06596D-2D1C-E463-C7BA-3EBFE6DC29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409" y="28047375"/>
              <a:ext cx="962182" cy="9621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23" name="矩形: 圆角 1122">
              <a:extLst>
                <a:ext uri="{FF2B5EF4-FFF2-40B4-BE49-F238E27FC236}">
                  <a16:creationId xmlns:a16="http://schemas.microsoft.com/office/drawing/2014/main" id="{D9BB997F-B1C1-E035-76B1-08A9146289CD}"/>
                </a:ext>
              </a:extLst>
            </p:cNvPr>
            <p:cNvSpPr/>
            <p:nvPr/>
          </p:nvSpPr>
          <p:spPr>
            <a:xfrm>
              <a:off x="1075478" y="27924463"/>
              <a:ext cx="5515867" cy="1208007"/>
            </a:xfrm>
            <a:prstGeom prst="roundRect">
              <a:avLst>
                <a:gd name="adj" fmla="val 6764"/>
              </a:avLst>
            </a:prstGeom>
            <a:no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 wrap="square"/>
            <a:lstStyle/>
            <a:p>
              <a:pPr algn="ctr"/>
              <a:r>
                <a:rPr lang="en-US" altLang="zh-CN" sz="3200" b="1" dirty="0">
                  <a:solidFill>
                    <a:srgbClr val="10263B"/>
                  </a:solidFill>
                  <a:latin typeface="Roboto Condensed ExtraBold" panose="02000000000000000000" pitchFamily="2" charset="0"/>
                  <a:ea typeface="Roboto Condensed ExtraBold" panose="02000000000000000000" pitchFamily="2" charset="0"/>
                </a:rPr>
                <a:t>−5.1% total distance</a:t>
              </a:r>
              <a:endParaRPr lang="en-US" altLang="zh-CN" sz="3200" dirty="0">
                <a:solidFill>
                  <a:srgbClr val="10263B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</a:endParaRPr>
            </a:p>
          </p:txBody>
        </p:sp>
      </p:grpSp>
      <p:cxnSp>
        <p:nvCxnSpPr>
          <p:cNvPr id="1125" name="直接连接符 1124">
            <a:extLst>
              <a:ext uri="{FF2B5EF4-FFF2-40B4-BE49-F238E27FC236}">
                <a16:creationId xmlns:a16="http://schemas.microsoft.com/office/drawing/2014/main" id="{FC6B5222-E78C-D69D-71D9-C12D555D40CB}"/>
              </a:ext>
            </a:extLst>
          </p:cNvPr>
          <p:cNvCxnSpPr>
            <a:cxnSpLocks/>
          </p:cNvCxnSpPr>
          <p:nvPr/>
        </p:nvCxnSpPr>
        <p:spPr>
          <a:xfrm>
            <a:off x="5937249" y="27982273"/>
            <a:ext cx="0" cy="103475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7" name="组合 1136">
            <a:extLst>
              <a:ext uri="{FF2B5EF4-FFF2-40B4-BE49-F238E27FC236}">
                <a16:creationId xmlns:a16="http://schemas.microsoft.com/office/drawing/2014/main" id="{2436C269-B1C3-399C-D65E-572A9C62A71D}"/>
              </a:ext>
            </a:extLst>
          </p:cNvPr>
          <p:cNvGrpSpPr/>
          <p:nvPr/>
        </p:nvGrpSpPr>
        <p:grpSpPr>
          <a:xfrm>
            <a:off x="5979779" y="27866409"/>
            <a:ext cx="8438626" cy="1294102"/>
            <a:chOff x="7677674" y="27924463"/>
            <a:chExt cx="8438626" cy="1294102"/>
          </a:xfrm>
        </p:grpSpPr>
        <p:sp>
          <p:nvSpPr>
            <p:cNvPr id="1128" name="矩形: 圆角 1127">
              <a:extLst>
                <a:ext uri="{FF2B5EF4-FFF2-40B4-BE49-F238E27FC236}">
                  <a16:creationId xmlns:a16="http://schemas.microsoft.com/office/drawing/2014/main" id="{6593525D-2293-8246-F998-90977A48A3C3}"/>
                </a:ext>
              </a:extLst>
            </p:cNvPr>
            <p:cNvSpPr/>
            <p:nvPr/>
          </p:nvSpPr>
          <p:spPr>
            <a:xfrm>
              <a:off x="8635562" y="28004075"/>
              <a:ext cx="7480738" cy="1208007"/>
            </a:xfrm>
            <a:prstGeom prst="roundRect">
              <a:avLst>
                <a:gd name="adj" fmla="val 6764"/>
              </a:avLst>
            </a:prstGeom>
            <a:no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 wrap="square"/>
            <a:lstStyle/>
            <a:p>
              <a:pPr algn="ctr"/>
              <a:r>
                <a:rPr lang="en-US" altLang="zh-CN" sz="3200" b="1" dirty="0">
                  <a:solidFill>
                    <a:srgbClr val="10263B"/>
                  </a:solidFill>
                  <a:latin typeface="Roboto Condensed ExtraBold" panose="02000000000000000000" pitchFamily="2" charset="0"/>
                  <a:ea typeface="Roboto Condensed ExtraBold" panose="02000000000000000000" pitchFamily="2" charset="0"/>
                </a:rPr>
                <a:t>36/36 feasible formal runs</a:t>
              </a:r>
              <a:endParaRPr lang="en-US" altLang="zh-CN" sz="3200" dirty="0">
                <a:solidFill>
                  <a:srgbClr val="10263B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</a:endParaRPr>
            </a:p>
          </p:txBody>
        </p:sp>
        <p:pic>
          <p:nvPicPr>
            <p:cNvPr id="1136" name="Picture 16" descr="Target Icon Vector Art, Icons, and Graphics for Free Download">
              <a:extLst>
                <a:ext uri="{FF2B5EF4-FFF2-40B4-BE49-F238E27FC236}">
                  <a16:creationId xmlns:a16="http://schemas.microsoft.com/office/drawing/2014/main" id="{DD229BEF-E974-BA8D-CEF1-737FC7445C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77674" y="27924463"/>
              <a:ext cx="1294102" cy="12941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39" name="组合 1138">
            <a:extLst>
              <a:ext uri="{FF2B5EF4-FFF2-40B4-BE49-F238E27FC236}">
                <a16:creationId xmlns:a16="http://schemas.microsoft.com/office/drawing/2014/main" id="{5ACA513D-D0B6-3D07-C406-FB5BA451CBA4}"/>
              </a:ext>
            </a:extLst>
          </p:cNvPr>
          <p:cNvGrpSpPr/>
          <p:nvPr/>
        </p:nvGrpSpPr>
        <p:grpSpPr>
          <a:xfrm>
            <a:off x="14546505" y="27909457"/>
            <a:ext cx="6668233" cy="1208007"/>
            <a:chOff x="14290131" y="27912680"/>
            <a:chExt cx="6668233" cy="1208007"/>
          </a:xfrm>
        </p:grpSpPr>
        <p:sp>
          <p:nvSpPr>
            <p:cNvPr id="1129" name="矩形: 圆角 1128">
              <a:extLst>
                <a:ext uri="{FF2B5EF4-FFF2-40B4-BE49-F238E27FC236}">
                  <a16:creationId xmlns:a16="http://schemas.microsoft.com/office/drawing/2014/main" id="{46963D47-6E04-6EFB-C8CC-2895DE84584B}"/>
                </a:ext>
              </a:extLst>
            </p:cNvPr>
            <p:cNvSpPr/>
            <p:nvPr/>
          </p:nvSpPr>
          <p:spPr>
            <a:xfrm>
              <a:off x="15442497" y="27912680"/>
              <a:ext cx="5515867" cy="1208007"/>
            </a:xfrm>
            <a:prstGeom prst="roundRect">
              <a:avLst>
                <a:gd name="adj" fmla="val 6764"/>
              </a:avLst>
            </a:prstGeom>
            <a:no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 wrap="square"/>
            <a:lstStyle/>
            <a:p>
              <a:pPr algn="ctr"/>
              <a:r>
                <a:rPr lang="en-US" altLang="zh-CN" sz="3200" b="1" dirty="0">
                  <a:solidFill>
                    <a:srgbClr val="10263B"/>
                  </a:solidFill>
                  <a:latin typeface="Roboto Condensed ExtraBold" panose="02000000000000000000" pitchFamily="2" charset="0"/>
                  <a:ea typeface="Roboto Condensed ExtraBold" panose="02000000000000000000" pitchFamily="2" charset="0"/>
                </a:rPr>
                <a:t>−22.0% exact-charging CPU</a:t>
              </a:r>
              <a:endParaRPr lang="en-US" altLang="zh-CN" sz="3200" dirty="0">
                <a:solidFill>
                  <a:srgbClr val="10263B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</a:endParaRPr>
            </a:p>
          </p:txBody>
        </p:sp>
        <p:pic>
          <p:nvPicPr>
            <p:cNvPr id="1138" name="Picture 18" descr="Symbol Growth Icon PNG Transparent Background, Free Download #22134 -  FreeIconsPNG">
              <a:extLst>
                <a:ext uri="{FF2B5EF4-FFF2-40B4-BE49-F238E27FC236}">
                  <a16:creationId xmlns:a16="http://schemas.microsoft.com/office/drawing/2014/main" id="{BAB5017C-65BC-4E43-5AEF-DB1A398DDC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90131" y="28004074"/>
              <a:ext cx="1026411" cy="10264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140" name="直接连接符 1139">
            <a:extLst>
              <a:ext uri="{FF2B5EF4-FFF2-40B4-BE49-F238E27FC236}">
                <a16:creationId xmlns:a16="http://schemas.microsoft.com/office/drawing/2014/main" id="{6A3CFF58-BAF1-BDB0-6941-32E1329A8490}"/>
              </a:ext>
            </a:extLst>
          </p:cNvPr>
          <p:cNvCxnSpPr>
            <a:cxnSpLocks/>
          </p:cNvCxnSpPr>
          <p:nvPr/>
        </p:nvCxnSpPr>
        <p:spPr>
          <a:xfrm>
            <a:off x="14391042" y="27982273"/>
            <a:ext cx="0" cy="103475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C2A5B8DA-DA4A-B4E4-DFC1-3AB0B57937C3}"/>
              </a:ext>
            </a:extLst>
          </p:cNvPr>
          <p:cNvSpPr/>
          <p:nvPr/>
        </p:nvSpPr>
        <p:spPr>
          <a:xfrm>
            <a:off x="9237600" y="21535200"/>
            <a:ext cx="12160800" cy="6091200"/>
          </a:xfrm>
          <a:prstGeom prst="roundRect">
            <a:avLst>
              <a:gd name="adj" fmla="val 6764"/>
            </a:avLst>
          </a:prstGeom>
          <a:solidFill>
            <a:srgbClr val="FDFDFD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066DD98C-C325-09A2-366C-DDAB64128C08}"/>
              </a:ext>
            </a:extLst>
          </p:cNvPr>
          <p:cNvSpPr/>
          <p:nvPr/>
        </p:nvSpPr>
        <p:spPr>
          <a:xfrm>
            <a:off x="9237600" y="21535200"/>
            <a:ext cx="12160800" cy="957600"/>
          </a:xfrm>
          <a:custGeom>
            <a:avLst/>
            <a:gdLst>
              <a:gd name="csX0" fmla="*/ 411920 w 8786190"/>
              <a:gd name="csY0" fmla="*/ 0 h 957502"/>
              <a:gd name="csX1" fmla="*/ 8374269 w 8786190"/>
              <a:gd name="csY1" fmla="*/ 0 h 957502"/>
              <a:gd name="csX2" fmla="*/ 8786190 w 8786190"/>
              <a:gd name="csY2" fmla="*/ 411920 h 957502"/>
              <a:gd name="csX3" fmla="*/ 8786190 w 8786190"/>
              <a:gd name="csY3" fmla="*/ 957502 h 957502"/>
              <a:gd name="csX4" fmla="*/ 0 w 8786190"/>
              <a:gd name="csY4" fmla="*/ 957502 h 957502"/>
              <a:gd name="csX5" fmla="*/ 0 w 8786190"/>
              <a:gd name="csY5" fmla="*/ 411920 h 957502"/>
              <a:gd name="csX6" fmla="*/ 411920 w 8786190"/>
              <a:gd name="csY6" fmla="*/ 0 h 9575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786190" h="957502">
                <a:moveTo>
                  <a:pt x="411920" y="0"/>
                </a:moveTo>
                <a:lnTo>
                  <a:pt x="8374269" y="0"/>
                </a:lnTo>
                <a:cubicBezTo>
                  <a:pt x="8601767" y="0"/>
                  <a:pt x="8786190" y="184422"/>
                  <a:pt x="8786190" y="411920"/>
                </a:cubicBezTo>
                <a:lnTo>
                  <a:pt x="8786190" y="957502"/>
                </a:lnTo>
                <a:lnTo>
                  <a:pt x="0" y="957502"/>
                </a:lnTo>
                <a:lnTo>
                  <a:pt x="0" y="411920"/>
                </a:lnTo>
                <a:cubicBezTo>
                  <a:pt x="0" y="184422"/>
                  <a:pt x="184422" y="0"/>
                  <a:pt x="411920" y="0"/>
                </a:cubicBezTo>
                <a:close/>
              </a:path>
            </a:pathLst>
          </a:custGeom>
          <a:solidFill>
            <a:srgbClr val="10263B"/>
          </a:solidFill>
          <a:ln w="28575">
            <a:solidFill>
              <a:srgbClr val="1026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440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Why It Works &amp; Honest Audit</a:t>
            </a:r>
            <a:endParaRPr lang="zh-CN" altLang="en-US" sz="4400" dirty="0">
              <a:latin typeface="Roboto Condensed ExtraBold" panose="02000000000000000000" pitchFamily="2" charset="0"/>
            </a:endParaRPr>
          </a:p>
        </p:txBody>
      </p:sp>
      <p:sp>
        <p:nvSpPr>
          <p:cNvPr id="1141" name="TextBox 1140"/>
          <p:cNvSpPr txBox="1"/>
          <p:nvPr/>
        </p:nvSpPr>
        <p:spPr>
          <a:xfrm>
            <a:off x="342000" y="29538000"/>
            <a:ext cx="936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FFFFFF"/>
                </a:solidFill>
                <a:latin typeface="Roboto Condensed ExtraBold"/>
              </a:rPr>
              <a:t>Department of Mathematical Sciences</a:t>
            </a:r>
          </a:p>
        </p:txBody>
      </p:sp>
      <p:pic>
        <p:nvPicPr>
          <p:cNvPr id="1142" name="Picture 1141" descr="fig1_proble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000" y="8280000"/>
            <a:ext cx="6083999" cy="3840909"/>
          </a:xfrm>
          <a:prstGeom prst="rect">
            <a:avLst/>
          </a:prstGeom>
        </p:spPr>
      </p:pic>
      <p:sp>
        <p:nvSpPr>
          <p:cNvPr id="1143" name="TextBox 1142"/>
          <p:cNvSpPr txBox="1"/>
          <p:nvPr/>
        </p:nvSpPr>
        <p:spPr>
          <a:xfrm>
            <a:off x="342000" y="13067999"/>
            <a:ext cx="6083999" cy="15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44546A"/>
                </a:solidFill>
                <a:latin typeface="Calibri"/>
              </a:rPr>
              <a:t>Benchmark — SSG (2014) · 12 instances · 5–100 customers · C / R / RC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44546A"/>
                </a:solidFill>
                <a:latin typeface="Calibri"/>
              </a:rPr>
              <a:t>Model — battery-limited EVs · en-route charging · hard time windows</a:t>
            </a:r>
          </a:p>
        </p:txBody>
      </p:sp>
      <p:sp>
        <p:nvSpPr>
          <p:cNvPr id="1144" name="TextBox 1143"/>
          <p:cNvSpPr txBox="1"/>
          <p:nvPr/>
        </p:nvSpPr>
        <p:spPr>
          <a:xfrm>
            <a:off x="342000" y="13896000"/>
            <a:ext cx="608399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4546A"/>
                </a:solidFill>
                <a:latin typeface="Calibri"/>
              </a:rPr>
              <a:t>Toolchain — Python · numba · CPLEX · Gurobi · HiGHS · OR-Tools (lockfile-pinned)</a:t>
            </a:r>
          </a:p>
        </p:txBody>
      </p:sp>
      <p:pic>
        <p:nvPicPr>
          <p:cNvPr id="1145" name="Picture 1144" descr="fig2_al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98000" y="4896000"/>
            <a:ext cx="8999226" cy="8474400"/>
          </a:xfrm>
          <a:prstGeom prst="rect">
            <a:avLst/>
          </a:prstGeom>
        </p:spPr>
      </p:pic>
      <p:pic>
        <p:nvPicPr>
          <p:cNvPr id="1146" name="Picture 1145" descr="fig3_protoco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2000" y="16200000"/>
            <a:ext cx="6073377" cy="4428000"/>
          </a:xfrm>
          <a:prstGeom prst="rect">
            <a:avLst/>
          </a:prstGeom>
        </p:spPr>
      </p:pic>
      <p:pic>
        <p:nvPicPr>
          <p:cNvPr id="1147" name="Picture 1146" descr="fig4_flee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12000" y="16110000"/>
            <a:ext cx="10375016" cy="4464000"/>
          </a:xfrm>
          <a:prstGeom prst="rect">
            <a:avLst/>
          </a:prstGeom>
        </p:spPr>
      </p:pic>
      <p:pic>
        <p:nvPicPr>
          <p:cNvPr id="1148" name="Picture 1147" descr="fig5_runtim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2000" y="22806000"/>
            <a:ext cx="8445600" cy="3440504"/>
          </a:xfrm>
          <a:prstGeom prst="rect">
            <a:avLst/>
          </a:prstGeom>
        </p:spPr>
      </p:pic>
      <p:pic>
        <p:nvPicPr>
          <p:cNvPr id="1149" name="Picture 1148" descr="fig6_savings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667999" y="11556000"/>
            <a:ext cx="4382608" cy="2519999"/>
          </a:xfrm>
          <a:prstGeom prst="rect">
            <a:avLst/>
          </a:prstGeom>
        </p:spPr>
      </p:pic>
      <p:pic>
        <p:nvPicPr>
          <p:cNvPr id="1150" name="Picture 1149" descr="qr_cod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548000" y="25398000"/>
            <a:ext cx="1512000" cy="1512000"/>
          </a:xfrm>
          <a:prstGeom prst="rect">
            <a:avLst/>
          </a:prstGeom>
        </p:spPr>
      </p:pic>
      <p:sp>
        <p:nvSpPr>
          <p:cNvPr id="1151" name="TextBox 1150"/>
          <p:cNvSpPr txBox="1"/>
          <p:nvPr/>
        </p:nvSpPr>
        <p:spPr>
          <a:xfrm>
            <a:off x="16667999" y="5040000"/>
            <a:ext cx="439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263B"/>
                </a:solidFill>
                <a:latin typeface="Roboto Condensed ExtraBold"/>
              </a:rPr>
              <a:t>KEY MECHANISMS</a:t>
            </a:r>
          </a:p>
        </p:txBody>
      </p:sp>
      <p:sp>
        <p:nvSpPr>
          <p:cNvPr id="1152" name="TextBox 1151"/>
          <p:cNvSpPr txBox="1"/>
          <p:nvPr/>
        </p:nvSpPr>
        <p:spPr>
          <a:xfrm>
            <a:off x="16667999" y="5580000"/>
            <a:ext cx="4392000" cy="30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700" b="0">
                <a:solidFill>
                  <a:srgbClr val="10263B"/>
                </a:solidFill>
                <a:latin typeface="Calibri"/>
              </a:rPr>
              <a:t>•</a:t>
            </a:r>
            <a:r>
              <a:rPr sz="1700" b="0">
                <a:solidFill>
                  <a:srgbClr val="1A1A1A"/>
                </a:solidFill>
                <a:latin typeface="Calibri"/>
              </a:rPr>
              <a:t>Vehicle-count-aware repair: eliminate routes first; fleet can fall, never rise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700" b="0">
                <a:solidFill>
                  <a:srgbClr val="10263B"/>
                </a:solidFill>
                <a:latin typeface="Calibri"/>
              </a:rPr>
              <a:t>•</a:t>
            </a:r>
            <a:r>
              <a:rPr sz="1700" b="0">
                <a:solidFill>
                  <a:srgbClr val="1A1A1A"/>
                </a:solidFill>
                <a:latin typeface="Calibri"/>
              </a:rPr>
              <a:t>Optimistic prefilters (capacity · time · energy) screen before exact evaluation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700" b="0">
                <a:solidFill>
                  <a:srgbClr val="10263B"/>
                </a:solidFill>
                <a:latin typeface="Calibri"/>
              </a:rPr>
              <a:t>•</a:t>
            </a:r>
            <a:r>
              <a:rPr sz="1700" b="0">
                <a:solidFill>
                  <a:srgbClr val="1A1A1A"/>
                </a:solidFill>
                <a:latin typeface="Calibri"/>
              </a:rPr>
              <a:t>Constraint-guided destroy: station pressure, TW conflicts, energy detours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700" b="0">
                <a:solidFill>
                  <a:srgbClr val="10263B"/>
                </a:solidFill>
                <a:latin typeface="Calibri"/>
              </a:rPr>
              <a:t>•</a:t>
            </a:r>
            <a:r>
              <a:rPr sz="1700" b="0">
                <a:solidFill>
                  <a:srgbClr val="1A1A1A"/>
                </a:solidFill>
                <a:latin typeface="Calibri"/>
              </a:rPr>
              <a:t>Exact charging subproblems re-solve only the routes that changed</a:t>
            </a:r>
          </a:p>
        </p:txBody>
      </p:sp>
      <p:sp>
        <p:nvSpPr>
          <p:cNvPr id="1153" name="TextBox 1152"/>
          <p:cNvSpPr txBox="1"/>
          <p:nvPr/>
        </p:nvSpPr>
        <p:spPr>
          <a:xfrm>
            <a:off x="16667999" y="9072000"/>
            <a:ext cx="439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263B"/>
                </a:solidFill>
                <a:latin typeface="Roboto Condensed ExtraBold"/>
              </a:rPr>
              <a:t>AUDIT PROTOCOL</a:t>
            </a:r>
          </a:p>
        </p:txBody>
      </p:sp>
      <p:sp>
        <p:nvSpPr>
          <p:cNvPr id="1154" name="TextBox 1153"/>
          <p:cNvSpPr txBox="1"/>
          <p:nvPr/>
        </p:nvSpPr>
        <p:spPr>
          <a:xfrm>
            <a:off x="16667999" y="9612000"/>
            <a:ext cx="4392000" cy="22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700" b="0">
                <a:solidFill>
                  <a:srgbClr val="10263B"/>
                </a:solidFill>
                <a:latin typeface="Calibri"/>
              </a:rPr>
              <a:t>•</a:t>
            </a:r>
            <a:r>
              <a:rPr sz="1700" b="0">
                <a:solidFill>
                  <a:srgbClr val="1A1A1A"/>
                </a:solidFill>
                <a:latin typeface="Calibri"/>
              </a:rPr>
              <a:t>Lexicographic objective — vehicles first; acceptance rejects any fleet-size increase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700" b="0">
                <a:solidFill>
                  <a:srgbClr val="10263B"/>
                </a:solidFill>
                <a:latin typeface="Calibri"/>
              </a:rPr>
              <a:t>•</a:t>
            </a:r>
            <a:r>
              <a:rPr sz="1700" b="0">
                <a:solidFill>
                  <a:srgbClr val="1A1A1A"/>
                </a:solidFill>
                <a:latin typeface="Calibri"/>
              </a:rPr>
              <a:t>Independent review CLI replays solutions, event logs &amp; hashes before publication</a:t>
            </a:r>
          </a:p>
        </p:txBody>
      </p:sp>
      <p:sp>
        <p:nvSpPr>
          <p:cNvPr id="1155" name="TextBox 1154"/>
          <p:cNvSpPr txBox="1"/>
          <p:nvPr/>
        </p:nvSpPr>
        <p:spPr>
          <a:xfrm>
            <a:off x="16667999" y="11142000"/>
            <a:ext cx="439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263B"/>
                </a:solidFill>
                <a:latin typeface="Roboto Condensed ExtraBold"/>
              </a:rPr>
              <a:t>VEHICLE SAVINGS</a:t>
            </a:r>
          </a:p>
        </p:txBody>
      </p:sp>
      <p:sp>
        <p:nvSpPr>
          <p:cNvPr id="1156" name="TextBox 1155"/>
          <p:cNvSpPr txBox="1"/>
          <p:nvPr/>
        </p:nvSpPr>
        <p:spPr>
          <a:xfrm>
            <a:off x="16667999" y="14147999"/>
            <a:ext cx="439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546A"/>
                </a:solidFill>
                <a:latin typeface="Calibri"/>
              </a:rPr>
              <a:t>Best of 3 seeds per instance — total fleet 87 → 76 vehicles (−12.6%)</a:t>
            </a:r>
          </a:p>
        </p:txBody>
      </p:sp>
      <p:sp>
        <p:nvSpPr>
          <p:cNvPr id="1157" name="Rounded Rectangle 1156"/>
          <p:cNvSpPr/>
          <p:nvPr/>
        </p:nvSpPr>
        <p:spPr>
          <a:xfrm>
            <a:off x="6533999" y="16182000"/>
            <a:ext cx="1911599" cy="4446000"/>
          </a:xfrm>
          <a:prstGeom prst="roundRect">
            <a:avLst>
              <a:gd name="adj" fmla="val 5500"/>
            </a:avLst>
          </a:prstGeom>
          <a:solidFill>
            <a:srgbClr val="EF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8" name="TextBox 1157"/>
          <p:cNvSpPr txBox="1"/>
          <p:nvPr/>
        </p:nvSpPr>
        <p:spPr>
          <a:xfrm>
            <a:off x="6533999" y="16362000"/>
            <a:ext cx="19115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0263B"/>
                </a:solidFill>
                <a:latin typeface="Calibri"/>
              </a:rPr>
              <a:t>Instances</a:t>
            </a:r>
          </a:p>
        </p:txBody>
      </p:sp>
      <p:sp>
        <p:nvSpPr>
          <p:cNvPr id="1159" name="TextBox 1158"/>
          <p:cNvSpPr txBox="1"/>
          <p:nvPr/>
        </p:nvSpPr>
        <p:spPr>
          <a:xfrm>
            <a:off x="6533999" y="16549200"/>
            <a:ext cx="1911599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0263B"/>
                </a:solidFill>
                <a:latin typeface="Roboto Condensed ExtraBold"/>
              </a:rPr>
              <a:t>12</a:t>
            </a:r>
          </a:p>
        </p:txBody>
      </p:sp>
      <p:sp>
        <p:nvSpPr>
          <p:cNvPr id="1160" name="TextBox 1159"/>
          <p:cNvSpPr txBox="1"/>
          <p:nvPr/>
        </p:nvSpPr>
        <p:spPr>
          <a:xfrm>
            <a:off x="6533999" y="17197200"/>
            <a:ext cx="19115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0263B"/>
                </a:solidFill>
                <a:latin typeface="Calibri"/>
              </a:rPr>
              <a:t>Seeds</a:t>
            </a:r>
          </a:p>
        </p:txBody>
      </p:sp>
      <p:sp>
        <p:nvSpPr>
          <p:cNvPr id="1161" name="TextBox 1160"/>
          <p:cNvSpPr txBox="1"/>
          <p:nvPr/>
        </p:nvSpPr>
        <p:spPr>
          <a:xfrm>
            <a:off x="6533999" y="17384400"/>
            <a:ext cx="1911599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0263B"/>
                </a:solidFill>
                <a:latin typeface="Roboto Condensed ExtraBold"/>
              </a:rPr>
              <a:t>3</a:t>
            </a:r>
          </a:p>
        </p:txBody>
      </p:sp>
      <p:sp>
        <p:nvSpPr>
          <p:cNvPr id="1162" name="TextBox 1161"/>
          <p:cNvSpPr txBox="1"/>
          <p:nvPr/>
        </p:nvSpPr>
        <p:spPr>
          <a:xfrm>
            <a:off x="6533999" y="18032400"/>
            <a:ext cx="19115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0263B"/>
                </a:solidFill>
                <a:latin typeface="Calibri"/>
              </a:rPr>
              <a:t>Time limit</a:t>
            </a:r>
          </a:p>
        </p:txBody>
      </p:sp>
      <p:sp>
        <p:nvSpPr>
          <p:cNvPr id="1163" name="TextBox 1162"/>
          <p:cNvSpPr txBox="1"/>
          <p:nvPr/>
        </p:nvSpPr>
        <p:spPr>
          <a:xfrm>
            <a:off x="6533999" y="18219600"/>
            <a:ext cx="1911599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0263B"/>
                </a:solidFill>
                <a:latin typeface="Roboto Condensed ExtraBold"/>
              </a:rPr>
              <a:t>30 s</a:t>
            </a:r>
          </a:p>
        </p:txBody>
      </p:sp>
      <p:sp>
        <p:nvSpPr>
          <p:cNvPr id="1164" name="TextBox 1163"/>
          <p:cNvSpPr txBox="1"/>
          <p:nvPr/>
        </p:nvSpPr>
        <p:spPr>
          <a:xfrm>
            <a:off x="6533999" y="18867600"/>
            <a:ext cx="19115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0263B"/>
                </a:solidFill>
                <a:latin typeface="Calibri"/>
              </a:rPr>
              <a:t>Iterations</a:t>
            </a:r>
          </a:p>
        </p:txBody>
      </p:sp>
      <p:sp>
        <p:nvSpPr>
          <p:cNvPr id="1165" name="TextBox 1164"/>
          <p:cNvSpPr txBox="1"/>
          <p:nvPr/>
        </p:nvSpPr>
        <p:spPr>
          <a:xfrm>
            <a:off x="6533999" y="19054800"/>
            <a:ext cx="1911599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0263B"/>
                </a:solidFill>
                <a:latin typeface="Roboto Condensed ExtraBold"/>
              </a:rPr>
              <a:t>1,000</a:t>
            </a:r>
          </a:p>
        </p:txBody>
      </p:sp>
      <p:sp>
        <p:nvSpPr>
          <p:cNvPr id="1166" name="TextBox 1165"/>
          <p:cNvSpPr txBox="1"/>
          <p:nvPr/>
        </p:nvSpPr>
        <p:spPr>
          <a:xfrm>
            <a:off x="6533999" y="19702800"/>
            <a:ext cx="19115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0263B"/>
                </a:solidFill>
                <a:latin typeface="Calibri"/>
              </a:rPr>
              <a:t>Thread</a:t>
            </a:r>
          </a:p>
        </p:txBody>
      </p:sp>
      <p:sp>
        <p:nvSpPr>
          <p:cNvPr id="1167" name="TextBox 1166"/>
          <p:cNvSpPr txBox="1"/>
          <p:nvPr/>
        </p:nvSpPr>
        <p:spPr>
          <a:xfrm>
            <a:off x="6533999" y="19890000"/>
            <a:ext cx="1911599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0263B"/>
                </a:solidFill>
                <a:latin typeface="Roboto Condensed ExtraBold"/>
              </a:rPr>
              <a:t>1</a:t>
            </a:r>
          </a:p>
        </p:txBody>
      </p:sp>
      <p:sp>
        <p:nvSpPr>
          <p:cNvPr id="1168" name="TextBox 1167"/>
          <p:cNvSpPr txBox="1"/>
          <p:nvPr/>
        </p:nvSpPr>
        <p:spPr>
          <a:xfrm>
            <a:off x="342000" y="20664000"/>
            <a:ext cx="810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A1A1A"/>
                </a:solidFill>
                <a:latin typeface="Calibri"/>
              </a:rPr>
              <a:t>Stage 0 frozen &amp; hash-verified — every number replays from raw evidence</a:t>
            </a:r>
          </a:p>
        </p:txBody>
      </p:sp>
      <p:sp>
        <p:nvSpPr>
          <p:cNvPr id="1169" name="TextBox 1168"/>
          <p:cNvSpPr txBox="1"/>
          <p:nvPr/>
        </p:nvSpPr>
        <p:spPr>
          <a:xfrm>
            <a:off x="9612000" y="20664000"/>
            <a:ext cx="11448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A1A1A"/>
                </a:solidFill>
                <a:latin typeface="Calibri"/>
              </a:rPr>
              <a:t>Vehicle-first search cuts fleet on 5/12 instances — 87 → 76 vehicles, −5.1% distance, 36/36 feasible</a:t>
            </a:r>
          </a:p>
        </p:txBody>
      </p:sp>
      <p:sp>
        <p:nvSpPr>
          <p:cNvPr id="1170" name="TextBox 1169"/>
          <p:cNvSpPr txBox="1"/>
          <p:nvPr/>
        </p:nvSpPr>
        <p:spPr>
          <a:xfrm>
            <a:off x="9612000" y="20916000"/>
            <a:ext cx="11448000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0263B"/>
                </a:solidFill>
                <a:latin typeface="Calibri"/>
              </a:rPr>
              <a:t>Per-family best — C 22→19 · R 31→28 · RC 34→29 · mean fleet 90.7 → 77.0</a:t>
            </a:r>
          </a:p>
        </p:txBody>
      </p:sp>
      <p:sp>
        <p:nvSpPr>
          <p:cNvPr id="1171" name="TextBox 1170"/>
          <p:cNvSpPr txBox="1"/>
          <p:nvPr/>
        </p:nvSpPr>
        <p:spPr>
          <a:xfrm>
            <a:off x="342000" y="26334000"/>
            <a:ext cx="84456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A1A1A"/>
                </a:solidFill>
                <a:latin typeface="Calibri"/>
              </a:rPr>
              <a:t>−22.0% exact-charging CPU (median, C instances) — CPU-batch default after audit</a:t>
            </a:r>
          </a:p>
        </p:txBody>
      </p:sp>
      <p:sp>
        <p:nvSpPr>
          <p:cNvPr id="1172" name="TextBox 1171"/>
          <p:cNvSpPr txBox="1"/>
          <p:nvPr/>
        </p:nvSpPr>
        <p:spPr>
          <a:xfrm>
            <a:off x="342000" y="26694000"/>
            <a:ext cx="84456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4546A"/>
                </a:solidFill>
                <a:latin typeface="Calibri"/>
              </a:rPr>
              <a:t>Batch pilot covers 4 instances (speedups 1.00–1.32×) — full-scope acceleration remains a Stage 3 target</a:t>
            </a:r>
          </a:p>
        </p:txBody>
      </p:sp>
      <p:sp>
        <p:nvSpPr>
          <p:cNvPr id="1173" name="TextBox 1172"/>
          <p:cNvSpPr txBox="1"/>
          <p:nvPr/>
        </p:nvSpPr>
        <p:spPr>
          <a:xfrm>
            <a:off x="7398000" y="13482000"/>
            <a:ext cx="90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63B"/>
                </a:solidFill>
                <a:latin typeface="Calibri"/>
              </a:rPr>
              <a:t>Constraint-guided ALNS engine — vehicle-first search with exact charging subproblems</a:t>
            </a:r>
          </a:p>
        </p:txBody>
      </p:sp>
      <p:sp>
        <p:nvSpPr>
          <p:cNvPr id="1174" name="TextBox 1173"/>
          <p:cNvSpPr txBox="1"/>
          <p:nvPr/>
        </p:nvSpPr>
        <p:spPr>
          <a:xfrm>
            <a:off x="7398000" y="13950000"/>
            <a:ext cx="9000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Exact charging dominates cost: 1,687–2,161 calls per 30 s run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Acceleration shipped: incremental cache · exact-deadline · parallel control</a:t>
            </a:r>
          </a:p>
        </p:txBody>
      </p:sp>
      <p:sp>
        <p:nvSpPr>
          <p:cNvPr id="1175" name="TextBox 1174"/>
          <p:cNvSpPr txBox="1"/>
          <p:nvPr/>
        </p:nvSpPr>
        <p:spPr>
          <a:xfrm>
            <a:off x="9612000" y="22626000"/>
            <a:ext cx="55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CA4"/>
                </a:solidFill>
                <a:latin typeface="Roboto Condensed ExtraBold"/>
              </a:rPr>
              <a:t>✓</a:t>
            </a:r>
            <a:r>
              <a:rPr sz="1700" b="1">
                <a:solidFill>
                  <a:srgbClr val="10263B"/>
                </a:solidFill>
                <a:latin typeface="Roboto Condensed ExtraBold"/>
              </a:rPr>
              <a:t>WHY IT WORKS</a:t>
            </a:r>
          </a:p>
        </p:txBody>
      </p:sp>
      <p:sp>
        <p:nvSpPr>
          <p:cNvPr id="1176" name="TextBox 1175"/>
          <p:cNvSpPr txBox="1"/>
          <p:nvPr/>
        </p:nvSpPr>
        <p:spPr>
          <a:xfrm>
            <a:off x="9612000" y="22968000"/>
            <a:ext cx="5580000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500" b="0">
                <a:solidFill>
                  <a:srgbClr val="2E6CA4"/>
                </a:solidFill>
                <a:latin typeface="Calibri"/>
              </a:rPr>
              <a:t>✓</a:t>
            </a:r>
            <a:r>
              <a:rPr sz="1500" b="0">
                <a:solidFill>
                  <a:srgbClr val="1A1A1A"/>
                </a:solidFill>
                <a:latin typeface="Calibri"/>
              </a:rPr>
              <a:t>Vehicle-count-aware repair — fleet can fall, never rise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500" b="0">
                <a:solidFill>
                  <a:srgbClr val="2E6CA4"/>
                </a:solidFill>
                <a:latin typeface="Calibri"/>
              </a:rPr>
              <a:t>✓</a:t>
            </a:r>
            <a:r>
              <a:rPr sz="1500" b="0">
                <a:solidFill>
                  <a:srgbClr val="1A1A1A"/>
                </a:solidFill>
                <a:latin typeface="Calibri"/>
              </a:rPr>
              <a:t>Constraint-guided destroy targets station pressure · TW conflicts · energy detours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500" b="0">
                <a:solidFill>
                  <a:srgbClr val="2E6CA4"/>
                </a:solidFill>
                <a:latin typeface="Calibri"/>
              </a:rPr>
              <a:t>✓</a:t>
            </a:r>
            <a:r>
              <a:rPr sz="1500" b="0">
                <a:solidFill>
                  <a:srgbClr val="1A1A1A"/>
                </a:solidFill>
                <a:latin typeface="Calibri"/>
              </a:rPr>
              <a:t>Dynamic removal size escalates on stagnation (17,892 logged)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500" b="0">
                <a:solidFill>
                  <a:srgbClr val="2E6CA4"/>
                </a:solidFill>
                <a:latin typeface="Calibri"/>
              </a:rPr>
              <a:t>✓</a:t>
            </a:r>
            <a:r>
              <a:rPr sz="1500" b="0">
                <a:solidFill>
                  <a:srgbClr val="1A1A1A"/>
                </a:solidFill>
                <a:latin typeface="Calibri"/>
              </a:rPr>
              <a:t>Stage-gated: two independent complete reruns must agree</a:t>
            </a:r>
          </a:p>
        </p:txBody>
      </p:sp>
      <p:sp>
        <p:nvSpPr>
          <p:cNvPr id="1177" name="TextBox 1176"/>
          <p:cNvSpPr txBox="1"/>
          <p:nvPr/>
        </p:nvSpPr>
        <p:spPr>
          <a:xfrm>
            <a:off x="15480000" y="22626000"/>
            <a:ext cx="572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0263B"/>
                </a:solidFill>
                <a:latin typeface="Roboto Condensed ExtraBold"/>
              </a:rPr>
              <a:t>▲</a:t>
            </a:r>
            <a:r>
              <a:rPr sz="1700" b="1">
                <a:solidFill>
                  <a:srgbClr val="10263B"/>
                </a:solidFill>
                <a:latin typeface="Roboto Condensed ExtraBold"/>
              </a:rPr>
              <a:t>HONEST BOUNDARIES</a:t>
            </a:r>
          </a:p>
        </p:txBody>
      </p:sp>
      <p:sp>
        <p:nvSpPr>
          <p:cNvPr id="1178" name="TextBox 1177"/>
          <p:cNvSpPr txBox="1"/>
          <p:nvPr/>
        </p:nvSpPr>
        <p:spPr>
          <a:xfrm>
            <a:off x="15480000" y="22968000"/>
            <a:ext cx="5724000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500" b="0">
                <a:solidFill>
                  <a:srgbClr val="10263B"/>
                </a:solidFill>
                <a:latin typeface="Calibri"/>
              </a:rPr>
              <a:t>▲</a:t>
            </a:r>
            <a:r>
              <a:rPr sz="1500" b="0">
                <a:solidFill>
                  <a:srgbClr val="1A1A1A"/>
                </a:solidFill>
                <a:latin typeface="Calibri"/>
              </a:rPr>
              <a:t>92/124 published BKS entries are model-incompatible — no gap claims against them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500" b="0">
                <a:solidFill>
                  <a:srgbClr val="10263B"/>
                </a:solidFill>
                <a:latin typeface="Calibri"/>
              </a:rPr>
              <a:t>▲</a:t>
            </a:r>
            <a:r>
              <a:rPr sz="1500" b="0">
                <a:solidFill>
                  <a:srgbClr val="1A1A1A"/>
                </a:solidFill>
                <a:latin typeface="Calibri"/>
              </a:rPr>
              <a:t>C5 control: −0.12% median (−8.7%…+4.5%) — speedup is structure-dependent, not universal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500" b="0">
                <a:solidFill>
                  <a:srgbClr val="10263B"/>
                </a:solidFill>
                <a:latin typeface="Calibri"/>
              </a:rPr>
              <a:t>▲</a:t>
            </a:r>
            <a:r>
              <a:rPr sz="1500" b="0">
                <a:solidFill>
                  <a:srgbClr val="1A1A1A"/>
                </a:solidFill>
                <a:latin typeface="Calibri"/>
              </a:rPr>
              <a:t>9/36 runs overran the 30 s budget by ≤ 0.02 s — all kept, with events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500" b="0">
                <a:solidFill>
                  <a:srgbClr val="10263B"/>
                </a:solidFill>
                <a:latin typeface="Calibri"/>
              </a:rPr>
              <a:t>▲</a:t>
            </a:r>
            <a:r>
              <a:rPr sz="1500" b="0">
                <a:solidFill>
                  <a:srgbClr val="1A1A1A"/>
                </a:solidFill>
                <a:latin typeface="Calibri"/>
              </a:rPr>
              <a:t>No unattested baselines — every number replays from raw solution JSON + event logs</a:t>
            </a:r>
          </a:p>
        </p:txBody>
      </p:sp>
      <p:sp>
        <p:nvSpPr>
          <p:cNvPr id="1179" name="TextBox 1178"/>
          <p:cNvSpPr txBox="1"/>
          <p:nvPr/>
        </p:nvSpPr>
        <p:spPr>
          <a:xfrm>
            <a:off x="9612000" y="25325999"/>
            <a:ext cx="90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0263B"/>
                </a:solidFill>
                <a:latin typeface="Roboto Condensed ExtraBold"/>
              </a:rPr>
              <a:t>EVIDENCE AT SCALE</a:t>
            </a:r>
          </a:p>
        </p:txBody>
      </p:sp>
      <p:sp>
        <p:nvSpPr>
          <p:cNvPr id="1180" name="Rounded Rectangle 1179"/>
          <p:cNvSpPr/>
          <p:nvPr/>
        </p:nvSpPr>
        <p:spPr>
          <a:xfrm>
            <a:off x="9612000" y="25595999"/>
            <a:ext cx="2214000" cy="827999"/>
          </a:xfrm>
          <a:prstGeom prst="roundRect">
            <a:avLst>
              <a:gd name="adj" fmla="val 9000"/>
            </a:avLst>
          </a:prstGeom>
          <a:solidFill>
            <a:srgbClr val="EF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TextBox 1180"/>
          <p:cNvSpPr txBox="1"/>
          <p:nvPr/>
        </p:nvSpPr>
        <p:spPr>
          <a:xfrm>
            <a:off x="9612000" y="25660800"/>
            <a:ext cx="2214000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0263B"/>
                </a:solidFill>
                <a:latin typeface="Roboto Condensed ExtraBold"/>
              </a:rPr>
              <a:t>12,121</a:t>
            </a:r>
          </a:p>
        </p:txBody>
      </p:sp>
      <p:sp>
        <p:nvSpPr>
          <p:cNvPr id="1182" name="TextBox 1181"/>
          <p:cNvSpPr txBox="1"/>
          <p:nvPr/>
        </p:nvSpPr>
        <p:spPr>
          <a:xfrm>
            <a:off x="9702000" y="26028000"/>
            <a:ext cx="2034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44546A"/>
                </a:solidFill>
                <a:latin typeface="Calibri"/>
              </a:rPr>
              <a:t>evidence files on disk</a:t>
            </a:r>
          </a:p>
        </p:txBody>
      </p:sp>
      <p:sp>
        <p:nvSpPr>
          <p:cNvPr id="1183" name="Rounded Rectangle 1182"/>
          <p:cNvSpPr/>
          <p:nvPr/>
        </p:nvSpPr>
        <p:spPr>
          <a:xfrm>
            <a:off x="11934000" y="25595999"/>
            <a:ext cx="2214000" cy="827999"/>
          </a:xfrm>
          <a:prstGeom prst="roundRect">
            <a:avLst>
              <a:gd name="adj" fmla="val 9000"/>
            </a:avLst>
          </a:prstGeom>
          <a:solidFill>
            <a:srgbClr val="EF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TextBox 1183"/>
          <p:cNvSpPr txBox="1"/>
          <p:nvPr/>
        </p:nvSpPr>
        <p:spPr>
          <a:xfrm>
            <a:off x="11934000" y="25660800"/>
            <a:ext cx="2214000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0263B"/>
                </a:solidFill>
                <a:latin typeface="Roboto Condensed ExtraBold"/>
              </a:rPr>
              <a:t>200,731</a:t>
            </a:r>
          </a:p>
        </p:txBody>
      </p:sp>
      <p:sp>
        <p:nvSpPr>
          <p:cNvPr id="1185" name="TextBox 1184"/>
          <p:cNvSpPr txBox="1"/>
          <p:nvPr/>
        </p:nvSpPr>
        <p:spPr>
          <a:xfrm>
            <a:off x="12024000" y="26028000"/>
            <a:ext cx="2034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44546A"/>
                </a:solidFill>
                <a:latin typeface="Calibri"/>
              </a:rPr>
              <a:t>operator event rows replayed</a:t>
            </a:r>
          </a:p>
        </p:txBody>
      </p:sp>
      <p:sp>
        <p:nvSpPr>
          <p:cNvPr id="1186" name="Rounded Rectangle 1185"/>
          <p:cNvSpPr/>
          <p:nvPr/>
        </p:nvSpPr>
        <p:spPr>
          <a:xfrm>
            <a:off x="14256000" y="25595999"/>
            <a:ext cx="2214000" cy="827999"/>
          </a:xfrm>
          <a:prstGeom prst="roundRect">
            <a:avLst>
              <a:gd name="adj" fmla="val 9000"/>
            </a:avLst>
          </a:prstGeom>
          <a:solidFill>
            <a:srgbClr val="EF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TextBox 1186"/>
          <p:cNvSpPr txBox="1"/>
          <p:nvPr/>
        </p:nvSpPr>
        <p:spPr>
          <a:xfrm>
            <a:off x="14256000" y="25660800"/>
            <a:ext cx="2214000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0263B"/>
                </a:solidFill>
                <a:latin typeface="Roboto Condensed ExtraBold"/>
              </a:rPr>
              <a:t>20</a:t>
            </a:r>
          </a:p>
        </p:txBody>
      </p:sp>
      <p:sp>
        <p:nvSpPr>
          <p:cNvPr id="1188" name="TextBox 1187"/>
          <p:cNvSpPr txBox="1"/>
          <p:nvPr/>
        </p:nvSpPr>
        <p:spPr>
          <a:xfrm>
            <a:off x="14346000" y="26028000"/>
            <a:ext cx="2034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44546A"/>
                </a:solidFill>
                <a:latin typeface="Calibri"/>
              </a:rPr>
              <a:t>real failure cases kept</a:t>
            </a:r>
          </a:p>
        </p:txBody>
      </p:sp>
      <p:sp>
        <p:nvSpPr>
          <p:cNvPr id="1189" name="Rounded Rectangle 1188"/>
          <p:cNvSpPr/>
          <p:nvPr/>
        </p:nvSpPr>
        <p:spPr>
          <a:xfrm>
            <a:off x="16577999" y="25595999"/>
            <a:ext cx="2214000" cy="827999"/>
          </a:xfrm>
          <a:prstGeom prst="roundRect">
            <a:avLst>
              <a:gd name="adj" fmla="val 9000"/>
            </a:avLst>
          </a:prstGeom>
          <a:solidFill>
            <a:srgbClr val="EF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TextBox 1189"/>
          <p:cNvSpPr txBox="1"/>
          <p:nvPr/>
        </p:nvSpPr>
        <p:spPr>
          <a:xfrm>
            <a:off x="16577999" y="25660800"/>
            <a:ext cx="2214000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0263B"/>
                </a:solidFill>
                <a:latin typeface="Roboto Condensed ExtraBold"/>
              </a:rPr>
              <a:t>0</a:t>
            </a:r>
          </a:p>
        </p:txBody>
      </p:sp>
      <p:sp>
        <p:nvSpPr>
          <p:cNvPr id="1191" name="TextBox 1190"/>
          <p:cNvSpPr txBox="1"/>
          <p:nvPr/>
        </p:nvSpPr>
        <p:spPr>
          <a:xfrm>
            <a:off x="16667999" y="26028000"/>
            <a:ext cx="2034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44546A"/>
                </a:solidFill>
                <a:latin typeface="Calibri"/>
              </a:rPr>
              <a:t>synthetic cases in audit</a:t>
            </a:r>
          </a:p>
        </p:txBody>
      </p:sp>
      <p:cxnSp>
        <p:nvCxnSpPr>
          <p:cNvPr id="1192" name="Connector 1191"/>
          <p:cNvCxnSpPr/>
          <p:nvPr/>
        </p:nvCxnSpPr>
        <p:spPr>
          <a:xfrm>
            <a:off x="9612000" y="26658000"/>
            <a:ext cx="9180000" cy="0"/>
          </a:xfrm>
          <a:prstGeom prst="line">
            <a:avLst/>
          </a:prstGeom>
          <a:ln w="9525">
            <a:solidFill>
              <a:srgbClr val="C9D2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3" name="TextBox 1192"/>
          <p:cNvSpPr txBox="1"/>
          <p:nvPr/>
        </p:nvSpPr>
        <p:spPr>
          <a:xfrm>
            <a:off x="9612000" y="26765999"/>
            <a:ext cx="9360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546A"/>
                </a:solidFill>
                <a:latin typeface="Calibri"/>
              </a:rPr>
              <a:t>[1] Schneider, Stenger &amp; Goeke (2014) Transp. Sci. 48(4):500–520    [2] Pisinger &amp; Ropke (2006) Transp. Res. B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546A"/>
                </a:solidFill>
                <a:latin typeface="Calibri"/>
              </a:rPr>
              <a:t>[3] Keskin &amp; Çatay (2016) Transp. Res. E    [4] Hottung, Kwon &amp; Tierney (2022) EJOR</a:t>
            </a:r>
          </a:p>
        </p:txBody>
      </p:sp>
      <p:sp>
        <p:nvSpPr>
          <p:cNvPr id="1194" name="TextBox 1193"/>
          <p:cNvSpPr txBox="1"/>
          <p:nvPr/>
        </p:nvSpPr>
        <p:spPr>
          <a:xfrm>
            <a:off x="17928000" y="27018000"/>
            <a:ext cx="313199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Calibri"/>
              </a:rPr>
              <a:t>Scan for code &amp; evidence</a:t>
            </a:r>
          </a:p>
        </p:txBody>
      </p:sp>
    </p:spTree>
    <p:extLst>
      <p:ext uri="{BB962C8B-B14F-4D97-AF65-F5344CB8AC3E}">
        <p14:creationId xmlns:p14="http://schemas.microsoft.com/office/powerpoint/2010/main" val="2782681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ba57bcb-f582-4dfe-b097-ca0487efe0a8" xsi:nil="true"/>
    <lcf76f155ced4ddcb4097134ff3c332f xmlns="8f359d49-0ea8-407e-9873-8f4dcb0a2f6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542440B3381244913595524F442B95" ma:contentTypeVersion="18" ma:contentTypeDescription="Create a new document." ma:contentTypeScope="" ma:versionID="78ec42a626e6314a89f96673cca9a8df">
  <xsd:schema xmlns:xsd="http://www.w3.org/2001/XMLSchema" xmlns:xs="http://www.w3.org/2001/XMLSchema" xmlns:p="http://schemas.microsoft.com/office/2006/metadata/properties" xmlns:ns2="5ba57bcb-f582-4dfe-b097-ca0487efe0a8" xmlns:ns3="8f359d49-0ea8-407e-9873-8f4dcb0a2f66" targetNamespace="http://schemas.microsoft.com/office/2006/metadata/properties" ma:root="true" ma:fieldsID="62d36da0b723e1d87f253ff9f2e70607" ns2:_="" ns3:_="">
    <xsd:import namespace="5ba57bcb-f582-4dfe-b097-ca0487efe0a8"/>
    <xsd:import namespace="8f359d49-0ea8-407e-9873-8f4dcb0a2f6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57bcb-f582-4dfe-b097-ca0487efe0a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eec97fc6-704b-4e8b-a60b-3023a21630d3}" ma:internalName="TaxCatchAll" ma:showField="CatchAllData" ma:web="5ba57bcb-f582-4dfe-b097-ca0487efe0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359d49-0ea8-407e-9873-8f4dcb0a2f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b41eaff-6be1-43e3-aa28-e44eb035eb3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BBC5C6-C79F-42CC-B03E-1C7D98C7F351}">
  <ds:schemaRefs>
    <ds:schemaRef ds:uri="http://schemas.microsoft.com/office/2006/documentManagement/types"/>
    <ds:schemaRef ds:uri="http://purl.org/dc/dcmitype/"/>
    <ds:schemaRef ds:uri="http://purl.org/dc/terms/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6f3d6493-30c3-482d-99ae-87b01b4f5e26"/>
    <ds:schemaRef ds:uri="http://schemas.microsoft.com/office/2006/metadata/properties"/>
    <ds:schemaRef ds:uri="5ba57bcb-f582-4dfe-b097-ca0487efe0a8"/>
    <ds:schemaRef ds:uri="8f359d49-0ea8-407e-9873-8f4dcb0a2f66"/>
  </ds:schemaRefs>
</ds:datastoreItem>
</file>

<file path=customXml/itemProps2.xml><?xml version="1.0" encoding="utf-8"?>
<ds:datastoreItem xmlns:ds="http://schemas.openxmlformats.org/officeDocument/2006/customXml" ds:itemID="{C42D52AA-A996-4EC3-9F93-F799E04575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a57bcb-f582-4dfe-b097-ca0487efe0a8"/>
    <ds:schemaRef ds:uri="8f359d49-0ea8-407e-9873-8f4dcb0a2f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4D092BC-268B-4DAB-904E-617AC27E3B5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202</TotalTime>
  <Words>51</Words>
  <Application>Microsoft Office PowerPoint</Application>
  <PresentationFormat>Custom</PresentationFormat>
  <Paragraphs>24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 Zhang</dc:creator>
  <cp:lastModifiedBy>Fuhua JIA</cp:lastModifiedBy>
  <cp:revision>151</cp:revision>
  <dcterms:created xsi:type="dcterms:W3CDTF">2022-05-10T01:47:32Z</dcterms:created>
  <dcterms:modified xsi:type="dcterms:W3CDTF">2026-09-16T04:04:38Z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0x01010004542440B3381244913595524F442B95</vt:lpwstr>
  </property>
  <property fmtid="{D5CDD505-2E9C-101B-9397-08002B2CF9AE}" pid="3" name="Order">
    <vt:r8>32685000</vt:r8>
  </property>
</Properties>
</file>